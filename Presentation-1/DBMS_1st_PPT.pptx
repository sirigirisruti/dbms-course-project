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881360" y="502920"/>
            <a:ext cx="685800" cy="233172"/>
          </a:xfrm>
          <a:prstGeom prst="ellipse">
            <a:avLst/>
          </a:prstGeom>
          <a:solidFill>
            <a:srgbClr val="3AA0B8"/>
          </a:solidFill>
          <a:ln/>
        </p:spPr>
      </p:sp>
      <p:sp>
        <p:nvSpPr>
          <p:cNvPr id="3" name="Shape 1"/>
          <p:cNvSpPr/>
          <p:nvPr/>
        </p:nvSpPr>
        <p:spPr>
          <a:xfrm>
            <a:off x="10881360" y="619506"/>
            <a:ext cx="685800" cy="315468"/>
          </a:xfrm>
          <a:prstGeom prst="rect">
            <a:avLst/>
          </a:prstGeom>
          <a:solidFill>
            <a:srgbClr val="3AA0B8"/>
          </a:solidFill>
          <a:ln/>
        </p:spPr>
      </p:sp>
      <p:sp>
        <p:nvSpPr>
          <p:cNvPr id="4" name="Shape 2"/>
          <p:cNvSpPr/>
          <p:nvPr/>
        </p:nvSpPr>
        <p:spPr>
          <a:xfrm>
            <a:off x="10881360" y="818388"/>
            <a:ext cx="685800" cy="233172"/>
          </a:xfrm>
          <a:prstGeom prst="ellipse">
            <a:avLst/>
          </a:prstGeom>
          <a:solidFill>
            <a:srgbClr val="065A82"/>
          </a:solidFill>
          <a:ln/>
        </p:spPr>
      </p:sp>
      <p:sp>
        <p:nvSpPr>
          <p:cNvPr id="5" name="Text 3"/>
          <p:cNvSpPr txBox="1"/>
          <p:nvPr/>
        </p:nvSpPr>
        <p:spPr>
          <a:xfrm>
            <a:off x="731520" y="1965960"/>
            <a:ext cx="105156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Problem Statement</a:t>
            </a:r>
            <a:endParaRPr lang="en-US" sz="4200" dirty="0"/>
          </a:p>
        </p:txBody>
      </p:sp>
      <p:sp>
        <p:nvSpPr>
          <p:cNvPr id="6" name="Text 4"/>
          <p:cNvSpPr txBox="1"/>
          <p:nvPr/>
        </p:nvSpPr>
        <p:spPr>
          <a:xfrm>
            <a:off x="731520" y="2697480"/>
            <a:ext cx="10515600" cy="365760"/>
          </a:xfrm>
          <a:prstGeom prst="rect">
            <a:avLst/>
          </a:prstGeom>
          <a:noFill/>
          <a:ln/>
        </p:spPr>
        <p:txBody>
          <a:bodyPr wrap="square" lIns="0" tIns="0" rIns="0" bIns="0" rtlCol="0" anchor="ctr"/>
          <a:lstStyle/>
          <a:p>
            <a:pPr indent="0" marL="0">
              <a:buNone/>
            </a:pPr>
            <a:r>
              <a:rPr lang="en-US" sz="1500" i="1" dirty="0">
                <a:solidFill>
                  <a:srgbClr val="AEB9D6"/>
                </a:solidFill>
                <a:latin typeface="Calibri" pitchFamily="34" charset="0"/>
                <a:ea typeface="Calibri" pitchFamily="34" charset="-122"/>
                <a:cs typeface="Calibri" pitchFamily="34" charset="-120"/>
              </a:rPr>
              <a:t>Design and Implementation of a DBMS for Recruitment and Applicant Tracking</a:t>
            </a:r>
            <a:endParaRPr lang="en-US" sz="1500" dirty="0"/>
          </a:p>
        </p:txBody>
      </p:sp>
      <p:sp>
        <p:nvSpPr>
          <p:cNvPr id="7" name="Text 5"/>
          <p:cNvSpPr txBox="1"/>
          <p:nvPr/>
        </p:nvSpPr>
        <p:spPr>
          <a:xfrm>
            <a:off x="1463040" y="3520440"/>
            <a:ext cx="9235440" cy="1005840"/>
          </a:xfrm>
          <a:prstGeom prst="rect">
            <a:avLst/>
          </a:prstGeom>
          <a:noFill/>
          <a:ln/>
        </p:spPr>
        <p:txBody>
          <a:bodyPr wrap="square" lIns="0" tIns="0" rIns="0" bIns="0" rtlCol="0" anchor="t"/>
          <a:lstStyle/>
          <a:p>
            <a:pPr algn="ctr" indent="0" marL="0">
              <a:lnSpc>
                <a:spcPct val="125000"/>
              </a:lnSpc>
              <a:buNone/>
            </a:pPr>
            <a:r>
              <a:rPr lang="en-US" sz="1500" dirty="0">
                <a:solidFill>
                  <a:srgbClr val="D7DEEF"/>
                </a:solidFill>
                <a:latin typeface="Calibri" pitchFamily="34" charset="0"/>
                <a:ea typeface="Calibri" pitchFamily="34" charset="-122"/>
                <a:cs typeface="Calibri" pitchFamily="34" charset="-120"/>
              </a:rPr>
              <a:t>Recruitment involves managing large amounts of information related to job vacancies, applicants, applications, interviews, and selection results. Handling this manually or through separate files creates serious challenges across the entire hiring process.</a:t>
            </a:r>
            <a:endParaRPr lang="en-US" sz="1500" dirty="0"/>
          </a:p>
        </p:txBody>
      </p:sp>
      <p:sp>
        <p:nvSpPr>
          <p:cNvPr id="8" name="Shape 6"/>
          <p:cNvSpPr/>
          <p:nvPr/>
        </p:nvSpPr>
        <p:spPr>
          <a:xfrm>
            <a:off x="1889608" y="4892040"/>
            <a:ext cx="1965960" cy="457200"/>
          </a:xfrm>
          <a:prstGeom prst="roundRect">
            <a:avLst>
              <a:gd name="adj" fmla="val 50000"/>
            </a:avLst>
          </a:prstGeom>
          <a:solidFill>
            <a:srgbClr val="1C7293"/>
          </a:solidFill>
          <a:ln/>
        </p:spPr>
      </p:sp>
      <p:sp>
        <p:nvSpPr>
          <p:cNvPr id="9" name="Text 7"/>
          <p:cNvSpPr txBox="1"/>
          <p:nvPr/>
        </p:nvSpPr>
        <p:spPr>
          <a:xfrm>
            <a:off x="1889608" y="4892040"/>
            <a:ext cx="19659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Management</a:t>
            </a:r>
            <a:endParaRPr lang="en-US" sz="1200" dirty="0"/>
          </a:p>
        </p:txBody>
      </p:sp>
      <p:sp>
        <p:nvSpPr>
          <p:cNvPr id="10" name="Shape 8"/>
          <p:cNvSpPr/>
          <p:nvPr/>
        </p:nvSpPr>
        <p:spPr>
          <a:xfrm>
            <a:off x="4129888" y="4892040"/>
            <a:ext cx="1874520" cy="457200"/>
          </a:xfrm>
          <a:prstGeom prst="roundRect">
            <a:avLst>
              <a:gd name="adj" fmla="val 50000"/>
            </a:avLst>
          </a:prstGeom>
          <a:solidFill>
            <a:srgbClr val="1C7293"/>
          </a:solidFill>
          <a:ln/>
        </p:spPr>
      </p:sp>
      <p:sp>
        <p:nvSpPr>
          <p:cNvPr id="11" name="Text 9"/>
          <p:cNvSpPr txBox="1"/>
          <p:nvPr/>
        </p:nvSpPr>
        <p:spPr>
          <a:xfrm>
            <a:off x="4129888" y="4892040"/>
            <a:ext cx="18745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Applicant Tracking</a:t>
            </a:r>
            <a:endParaRPr lang="en-US" sz="1200" dirty="0"/>
          </a:p>
        </p:txBody>
      </p:sp>
      <p:sp>
        <p:nvSpPr>
          <p:cNvPr id="12" name="Shape 10"/>
          <p:cNvSpPr/>
          <p:nvPr/>
        </p:nvSpPr>
        <p:spPr>
          <a:xfrm>
            <a:off x="6278728" y="4892040"/>
            <a:ext cx="1783080" cy="457200"/>
          </a:xfrm>
          <a:prstGeom prst="roundRect">
            <a:avLst>
              <a:gd name="adj" fmla="val 50000"/>
            </a:avLst>
          </a:prstGeom>
          <a:solidFill>
            <a:srgbClr val="1C7293"/>
          </a:solidFill>
          <a:ln/>
        </p:spPr>
      </p:sp>
      <p:sp>
        <p:nvSpPr>
          <p:cNvPr id="13" name="Text 11"/>
          <p:cNvSpPr txBox="1"/>
          <p:nvPr/>
        </p:nvSpPr>
        <p:spPr>
          <a:xfrm>
            <a:off x="6278728" y="4892040"/>
            <a:ext cx="17830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Consistency</a:t>
            </a:r>
            <a:endParaRPr lang="en-US" sz="1200" dirty="0"/>
          </a:p>
        </p:txBody>
      </p:sp>
      <p:sp>
        <p:nvSpPr>
          <p:cNvPr id="14" name="Shape 12"/>
          <p:cNvSpPr/>
          <p:nvPr/>
        </p:nvSpPr>
        <p:spPr>
          <a:xfrm>
            <a:off x="8336128" y="4892040"/>
            <a:ext cx="1965960" cy="457200"/>
          </a:xfrm>
          <a:prstGeom prst="roundRect">
            <a:avLst>
              <a:gd name="adj" fmla="val 50000"/>
            </a:avLst>
          </a:prstGeom>
          <a:solidFill>
            <a:srgbClr val="1C7293"/>
          </a:solidFill>
          <a:ln/>
        </p:spPr>
      </p:sp>
      <p:sp>
        <p:nvSpPr>
          <p:cNvPr id="15" name="Text 13"/>
          <p:cNvSpPr txBox="1"/>
          <p:nvPr/>
        </p:nvSpPr>
        <p:spPr>
          <a:xfrm>
            <a:off x="8336128" y="4892040"/>
            <a:ext cx="19659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Recruitment Process</a:t>
            </a:r>
            <a:endParaRPr lang="en-US" sz="1200" dirty="0"/>
          </a:p>
        </p:txBody>
      </p:sp>
      <p:sp>
        <p:nvSpPr>
          <p:cNvPr id="16" name="Text 14"/>
          <p:cNvSpPr txBox="1"/>
          <p:nvPr/>
        </p:nvSpPr>
        <p:spPr>
          <a:xfrm>
            <a:off x="8686800" y="6473952"/>
            <a:ext cx="3044952" cy="274320"/>
          </a:xfrm>
          <a:prstGeom prst="rect">
            <a:avLst/>
          </a:prstGeom>
          <a:noFill/>
          <a:ln/>
        </p:spPr>
        <p:txBody>
          <a:bodyPr wrap="square" lIns="0" tIns="0" rIns="0" bIns="0" rtlCol="0" anchor="ctr"/>
          <a:lstStyle/>
          <a:p>
            <a:pPr algn="r" indent="0" marL="0">
              <a:buNone/>
            </a:pPr>
            <a:r>
              <a:rPr lang="en-US" sz="900" dirty="0">
                <a:solidFill>
                  <a:srgbClr val="AEB9D6"/>
                </a:solidFill>
                <a:latin typeface="Calibri" pitchFamily="34" charset="0"/>
                <a:ea typeface="Calibri" pitchFamily="34" charset="-122"/>
                <a:cs typeface="Calibri" pitchFamily="34" charset="-120"/>
              </a:rPr>
              <a:t>B.Tech CSE / AI-ML  |  DBMS Project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5486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Key Challenges</a:t>
            </a:r>
            <a:endParaRPr lang="en-US" sz="3000" dirty="0"/>
          </a:p>
        </p:txBody>
      </p:sp>
      <p:sp>
        <p:nvSpPr>
          <p:cNvPr id="3" name="Text 1"/>
          <p:cNvSpPr txBox="1"/>
          <p:nvPr/>
        </p:nvSpPr>
        <p:spPr>
          <a:xfrm>
            <a:off x="548640" y="896112"/>
            <a:ext cx="91440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Problems created by manual or file-based recruitment management</a:t>
            </a:r>
            <a:endParaRPr lang="en-US" sz="1300" dirty="0"/>
          </a:p>
        </p:txBody>
      </p:sp>
      <p:sp>
        <p:nvSpPr>
          <p:cNvPr id="4" name="Shape 2"/>
          <p:cNvSpPr/>
          <p:nvPr/>
        </p:nvSpPr>
        <p:spPr>
          <a:xfrm>
            <a:off x="11109960" y="384048"/>
            <a:ext cx="566928" cy="192756"/>
          </a:xfrm>
          <a:prstGeom prst="ellipse">
            <a:avLst/>
          </a:prstGeom>
          <a:solidFill>
            <a:srgbClr val="1C7293"/>
          </a:solidFill>
          <a:ln/>
        </p:spPr>
      </p:sp>
      <p:sp>
        <p:nvSpPr>
          <p:cNvPr id="5" name="Shape 3"/>
          <p:cNvSpPr/>
          <p:nvPr/>
        </p:nvSpPr>
        <p:spPr>
          <a:xfrm>
            <a:off x="11109960" y="480426"/>
            <a:ext cx="566928" cy="260787"/>
          </a:xfrm>
          <a:prstGeom prst="rect">
            <a:avLst/>
          </a:prstGeom>
          <a:solidFill>
            <a:srgbClr val="1C7293"/>
          </a:solidFill>
          <a:ln/>
        </p:spPr>
      </p:sp>
      <p:sp>
        <p:nvSpPr>
          <p:cNvPr id="6" name="Shape 4"/>
          <p:cNvSpPr/>
          <p:nvPr/>
        </p:nvSpPr>
        <p:spPr>
          <a:xfrm>
            <a:off x="11109960" y="644835"/>
            <a:ext cx="566928" cy="192756"/>
          </a:xfrm>
          <a:prstGeom prst="ellipse">
            <a:avLst/>
          </a:prstGeom>
          <a:solidFill>
            <a:srgbClr val="065A82"/>
          </a:solidFill>
          <a:ln/>
        </p:spPr>
      </p:sp>
      <p:sp>
        <p:nvSpPr>
          <p:cNvPr id="7" name="Shape 5"/>
          <p:cNvSpPr/>
          <p:nvPr/>
        </p:nvSpPr>
        <p:spPr>
          <a:xfrm>
            <a:off x="540868" y="1508760"/>
            <a:ext cx="3520440" cy="1965960"/>
          </a:xfrm>
          <a:prstGeom prst="roundRect">
            <a:avLst>
              <a:gd name="adj" fmla="val 3721"/>
            </a:avLst>
          </a:prstGeom>
          <a:solidFill>
            <a:srgbClr val="FAFBFC"/>
          </a:solidFill>
          <a:ln w="12700">
            <a:solidFill>
              <a:srgbClr val="DCE3EA"/>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96900" y="1764792"/>
            <a:ext cx="457200" cy="457200"/>
          </a:xfrm>
          <a:prstGeom prst="ellipse">
            <a:avLst/>
          </a:prstGeom>
          <a:solidFill>
            <a:srgbClr val="065A82"/>
          </a:solidFill>
          <a:ln/>
        </p:spPr>
      </p:sp>
      <p:sp>
        <p:nvSpPr>
          <p:cNvPr id="9" name="Text 7"/>
          <p:cNvSpPr txBox="1"/>
          <p:nvPr/>
        </p:nvSpPr>
        <p:spPr>
          <a:xfrm>
            <a:off x="796900" y="17647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txBox="1"/>
          <p:nvPr/>
        </p:nvSpPr>
        <p:spPr>
          <a:xfrm>
            <a:off x="796900" y="2377440"/>
            <a:ext cx="3008376" cy="365760"/>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Data Management</a:t>
            </a:r>
            <a:endParaRPr lang="en-US" sz="1450" dirty="0"/>
          </a:p>
        </p:txBody>
      </p:sp>
      <p:sp>
        <p:nvSpPr>
          <p:cNvPr id="11" name="Text 9"/>
          <p:cNvSpPr txBox="1"/>
          <p:nvPr/>
        </p:nvSpPr>
        <p:spPr>
          <a:xfrm>
            <a:off x="796900" y="2743200"/>
            <a:ext cx="3008376" cy="64008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Difficulty storing and organizing large volumes of applicant data.</a:t>
            </a:r>
            <a:endParaRPr lang="en-US" sz="1200" dirty="0"/>
          </a:p>
        </p:txBody>
      </p:sp>
      <p:sp>
        <p:nvSpPr>
          <p:cNvPr id="12" name="Shape 10"/>
          <p:cNvSpPr/>
          <p:nvPr/>
        </p:nvSpPr>
        <p:spPr>
          <a:xfrm>
            <a:off x="4335628" y="1508760"/>
            <a:ext cx="3520440" cy="1965960"/>
          </a:xfrm>
          <a:prstGeom prst="roundRect">
            <a:avLst>
              <a:gd name="adj" fmla="val 3721"/>
            </a:avLst>
          </a:prstGeom>
          <a:solidFill>
            <a:srgbClr val="FAFBFC"/>
          </a:solidFill>
          <a:ln w="12700">
            <a:solidFill>
              <a:srgbClr val="DCE3EA"/>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4591660" y="1764792"/>
            <a:ext cx="457200" cy="457200"/>
          </a:xfrm>
          <a:prstGeom prst="ellipse">
            <a:avLst/>
          </a:prstGeom>
          <a:solidFill>
            <a:srgbClr val="1C7293"/>
          </a:solidFill>
          <a:ln/>
        </p:spPr>
      </p:sp>
      <p:sp>
        <p:nvSpPr>
          <p:cNvPr id="14" name="Text 12"/>
          <p:cNvSpPr txBox="1"/>
          <p:nvPr/>
        </p:nvSpPr>
        <p:spPr>
          <a:xfrm>
            <a:off x="4591660" y="17647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4591660" y="2377440"/>
            <a:ext cx="3008376" cy="365760"/>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Data Consistency</a:t>
            </a:r>
            <a:endParaRPr lang="en-US" sz="1450" dirty="0"/>
          </a:p>
        </p:txBody>
      </p:sp>
      <p:sp>
        <p:nvSpPr>
          <p:cNvPr id="16" name="Text 14"/>
          <p:cNvSpPr txBox="1"/>
          <p:nvPr/>
        </p:nvSpPr>
        <p:spPr>
          <a:xfrm>
            <a:off x="4591660" y="2743200"/>
            <a:ext cx="3008376" cy="64008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Duplication and inconsistency across records.</a:t>
            </a:r>
            <a:endParaRPr lang="en-US" sz="1200" dirty="0"/>
          </a:p>
        </p:txBody>
      </p:sp>
      <p:sp>
        <p:nvSpPr>
          <p:cNvPr id="17" name="Shape 15"/>
          <p:cNvSpPr/>
          <p:nvPr/>
        </p:nvSpPr>
        <p:spPr>
          <a:xfrm>
            <a:off x="8130388" y="1508760"/>
            <a:ext cx="3520440" cy="1965960"/>
          </a:xfrm>
          <a:prstGeom prst="roundRect">
            <a:avLst>
              <a:gd name="adj" fmla="val 3721"/>
            </a:avLst>
          </a:prstGeom>
          <a:solidFill>
            <a:srgbClr val="FAFBFC"/>
          </a:solidFill>
          <a:ln w="12700">
            <a:solidFill>
              <a:srgbClr val="DCE3EA"/>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8386420" y="1764792"/>
            <a:ext cx="457200" cy="457200"/>
          </a:xfrm>
          <a:prstGeom prst="ellipse">
            <a:avLst/>
          </a:prstGeom>
          <a:solidFill>
            <a:srgbClr val="065A82"/>
          </a:solidFill>
          <a:ln/>
        </p:spPr>
      </p:sp>
      <p:sp>
        <p:nvSpPr>
          <p:cNvPr id="19" name="Text 17"/>
          <p:cNvSpPr txBox="1"/>
          <p:nvPr/>
        </p:nvSpPr>
        <p:spPr>
          <a:xfrm>
            <a:off x="8386420" y="17647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8386420" y="2377440"/>
            <a:ext cx="3008376" cy="365760"/>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Applicant Tracking</a:t>
            </a:r>
            <a:endParaRPr lang="en-US" sz="1450" dirty="0"/>
          </a:p>
        </p:txBody>
      </p:sp>
      <p:sp>
        <p:nvSpPr>
          <p:cNvPr id="21" name="Text 19"/>
          <p:cNvSpPr txBox="1"/>
          <p:nvPr/>
        </p:nvSpPr>
        <p:spPr>
          <a:xfrm>
            <a:off x="8386420" y="2743200"/>
            <a:ext cx="3008376" cy="64008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Hard to track an applicant's application status.</a:t>
            </a:r>
            <a:endParaRPr lang="en-US" sz="1200" dirty="0"/>
          </a:p>
        </p:txBody>
      </p:sp>
      <p:sp>
        <p:nvSpPr>
          <p:cNvPr id="22" name="Shape 20"/>
          <p:cNvSpPr/>
          <p:nvPr/>
        </p:nvSpPr>
        <p:spPr>
          <a:xfrm>
            <a:off x="540868" y="3749040"/>
            <a:ext cx="3520440" cy="1965960"/>
          </a:xfrm>
          <a:prstGeom prst="roundRect">
            <a:avLst>
              <a:gd name="adj" fmla="val 3721"/>
            </a:avLst>
          </a:prstGeom>
          <a:solidFill>
            <a:srgbClr val="FAFBFC"/>
          </a:solidFill>
          <a:ln w="12700">
            <a:solidFill>
              <a:srgbClr val="DCE3EA"/>
            </a:solidFill>
            <a:prstDash val="solid"/>
          </a:ln>
          <a:effectLst>
            <a:outerShdw sx="100000" sy="100000" kx="0" ky="0" algn="bl" rotWithShape="0" blurRad="76200" dist="25400" dir="5400000">
              <a:srgbClr val="000000">
                <a:alpha val="12000"/>
              </a:srgbClr>
            </a:outerShdw>
          </a:effectLst>
        </p:spPr>
      </p:sp>
      <p:sp>
        <p:nvSpPr>
          <p:cNvPr id="23" name="Shape 21"/>
          <p:cNvSpPr/>
          <p:nvPr/>
        </p:nvSpPr>
        <p:spPr>
          <a:xfrm>
            <a:off x="796900" y="4005072"/>
            <a:ext cx="457200" cy="457200"/>
          </a:xfrm>
          <a:prstGeom prst="ellipse">
            <a:avLst/>
          </a:prstGeom>
          <a:solidFill>
            <a:srgbClr val="1C7293"/>
          </a:solidFill>
          <a:ln/>
        </p:spPr>
      </p:sp>
      <p:sp>
        <p:nvSpPr>
          <p:cNvPr id="24" name="Text 22"/>
          <p:cNvSpPr txBox="1"/>
          <p:nvPr/>
        </p:nvSpPr>
        <p:spPr>
          <a:xfrm>
            <a:off x="796900" y="4005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796900" y="4617720"/>
            <a:ext cx="3008376" cy="365760"/>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Slow Retrieval</a:t>
            </a:r>
            <a:endParaRPr lang="en-US" sz="1450" dirty="0"/>
          </a:p>
        </p:txBody>
      </p:sp>
      <p:sp>
        <p:nvSpPr>
          <p:cNvPr id="26" name="Text 24"/>
          <p:cNvSpPr txBox="1"/>
          <p:nvPr/>
        </p:nvSpPr>
        <p:spPr>
          <a:xfrm>
            <a:off x="796900" y="4983480"/>
            <a:ext cx="3008376" cy="64008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Time-consuming to retrieve and update information.</a:t>
            </a:r>
            <a:endParaRPr lang="en-US" sz="1200" dirty="0"/>
          </a:p>
        </p:txBody>
      </p:sp>
      <p:sp>
        <p:nvSpPr>
          <p:cNvPr id="27" name="Shape 25"/>
          <p:cNvSpPr/>
          <p:nvPr/>
        </p:nvSpPr>
        <p:spPr>
          <a:xfrm>
            <a:off x="4335628" y="3749040"/>
            <a:ext cx="3520440" cy="1965960"/>
          </a:xfrm>
          <a:prstGeom prst="roundRect">
            <a:avLst>
              <a:gd name="adj" fmla="val 3721"/>
            </a:avLst>
          </a:prstGeom>
          <a:solidFill>
            <a:srgbClr val="FAFBFC"/>
          </a:solidFill>
          <a:ln w="12700">
            <a:solidFill>
              <a:srgbClr val="DCE3EA"/>
            </a:solidFill>
            <a:prstDash val="solid"/>
          </a:ln>
          <a:effectLst>
            <a:outerShdw sx="100000" sy="100000" kx="0" ky="0" algn="bl" rotWithShape="0" blurRad="76200" dist="25400" dir="5400000">
              <a:srgbClr val="000000">
                <a:alpha val="12000"/>
              </a:srgbClr>
            </a:outerShdw>
          </a:effectLst>
        </p:spPr>
      </p:sp>
      <p:sp>
        <p:nvSpPr>
          <p:cNvPr id="28" name="Shape 26"/>
          <p:cNvSpPr/>
          <p:nvPr/>
        </p:nvSpPr>
        <p:spPr>
          <a:xfrm>
            <a:off x="4591660" y="4005072"/>
            <a:ext cx="457200" cy="457200"/>
          </a:xfrm>
          <a:prstGeom prst="ellipse">
            <a:avLst/>
          </a:prstGeom>
          <a:solidFill>
            <a:srgbClr val="065A82"/>
          </a:solidFill>
          <a:ln/>
        </p:spPr>
      </p:sp>
      <p:sp>
        <p:nvSpPr>
          <p:cNvPr id="29" name="Text 27"/>
          <p:cNvSpPr txBox="1"/>
          <p:nvPr/>
        </p:nvSpPr>
        <p:spPr>
          <a:xfrm>
            <a:off x="4591660" y="4005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txBox="1"/>
          <p:nvPr/>
        </p:nvSpPr>
        <p:spPr>
          <a:xfrm>
            <a:off x="4591660" y="4617720"/>
            <a:ext cx="3008376" cy="365760"/>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Interview Scheduling</a:t>
            </a:r>
            <a:endParaRPr lang="en-US" sz="1450" dirty="0"/>
          </a:p>
        </p:txBody>
      </p:sp>
      <p:sp>
        <p:nvSpPr>
          <p:cNvPr id="31" name="Text 29"/>
          <p:cNvSpPr txBox="1"/>
          <p:nvPr/>
        </p:nvSpPr>
        <p:spPr>
          <a:xfrm>
            <a:off x="4591660" y="4983480"/>
            <a:ext cx="3008376" cy="64008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Difficult to manage interview schedules and results.</a:t>
            </a:r>
            <a:endParaRPr lang="en-US" sz="1200" dirty="0"/>
          </a:p>
        </p:txBody>
      </p:sp>
      <p:sp>
        <p:nvSpPr>
          <p:cNvPr id="32" name="Shape 30"/>
          <p:cNvSpPr/>
          <p:nvPr/>
        </p:nvSpPr>
        <p:spPr>
          <a:xfrm>
            <a:off x="8130388" y="3749040"/>
            <a:ext cx="3520440" cy="1965960"/>
          </a:xfrm>
          <a:prstGeom prst="roundRect">
            <a:avLst>
              <a:gd name="adj" fmla="val 3721"/>
            </a:avLst>
          </a:prstGeom>
          <a:solidFill>
            <a:srgbClr val="FAFBFC"/>
          </a:solidFill>
          <a:ln w="12700">
            <a:solidFill>
              <a:srgbClr val="DCE3EA"/>
            </a:solidFill>
            <a:prstDash val="solid"/>
          </a:ln>
          <a:effectLst>
            <a:outerShdw sx="100000" sy="100000" kx="0" ky="0" algn="bl" rotWithShape="0" blurRad="76200" dist="25400" dir="5400000">
              <a:srgbClr val="000000">
                <a:alpha val="12000"/>
              </a:srgbClr>
            </a:outerShdw>
          </a:effectLst>
        </p:spPr>
      </p:sp>
      <p:sp>
        <p:nvSpPr>
          <p:cNvPr id="33" name="Shape 31"/>
          <p:cNvSpPr/>
          <p:nvPr/>
        </p:nvSpPr>
        <p:spPr>
          <a:xfrm>
            <a:off x="8386420" y="4005072"/>
            <a:ext cx="457200" cy="457200"/>
          </a:xfrm>
          <a:prstGeom prst="ellipse">
            <a:avLst/>
          </a:prstGeom>
          <a:solidFill>
            <a:srgbClr val="1C7293"/>
          </a:solidFill>
          <a:ln/>
        </p:spPr>
      </p:sp>
      <p:sp>
        <p:nvSpPr>
          <p:cNvPr id="34" name="Text 32"/>
          <p:cNvSpPr txBox="1"/>
          <p:nvPr/>
        </p:nvSpPr>
        <p:spPr>
          <a:xfrm>
            <a:off x="8386420" y="4005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5" name="Text 33"/>
          <p:cNvSpPr txBox="1"/>
          <p:nvPr/>
        </p:nvSpPr>
        <p:spPr>
          <a:xfrm>
            <a:off x="8386420" y="4617720"/>
            <a:ext cx="3008376" cy="365760"/>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Recruitment Reports</a:t>
            </a:r>
            <a:endParaRPr lang="en-US" sz="1450" dirty="0"/>
          </a:p>
        </p:txBody>
      </p:sp>
      <p:sp>
        <p:nvSpPr>
          <p:cNvPr id="36" name="Text 34"/>
          <p:cNvSpPr txBox="1"/>
          <p:nvPr/>
        </p:nvSpPr>
        <p:spPr>
          <a:xfrm>
            <a:off x="8386420" y="4983480"/>
            <a:ext cx="3008376" cy="64008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Challenging to generate accurate, timely reports.</a:t>
            </a:r>
            <a:endParaRPr lang="en-US" sz="1200" dirty="0"/>
          </a:p>
        </p:txBody>
      </p:sp>
      <p:sp>
        <p:nvSpPr>
          <p:cNvPr id="37" name="Text 35"/>
          <p:cNvSpPr txBox="1"/>
          <p:nvPr/>
        </p:nvSpPr>
        <p:spPr>
          <a:xfrm>
            <a:off x="8686800" y="6473952"/>
            <a:ext cx="3044952" cy="27432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B.Tech CSE / AI-ML  |  DBMS Project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5486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Recruitment Process Flow</a:t>
            </a:r>
            <a:endParaRPr lang="en-US" sz="3000" dirty="0"/>
          </a:p>
        </p:txBody>
      </p:sp>
      <p:sp>
        <p:nvSpPr>
          <p:cNvPr id="3" name="Text 1"/>
          <p:cNvSpPr txBox="1"/>
          <p:nvPr/>
        </p:nvSpPr>
        <p:spPr>
          <a:xfrm>
            <a:off x="548640" y="896112"/>
            <a:ext cx="96012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Each stage below is currently handled with disconnected, manual effort</a:t>
            </a:r>
            <a:endParaRPr lang="en-US" sz="1300" dirty="0"/>
          </a:p>
        </p:txBody>
      </p:sp>
      <p:sp>
        <p:nvSpPr>
          <p:cNvPr id="4" name="Shape 2"/>
          <p:cNvSpPr/>
          <p:nvPr/>
        </p:nvSpPr>
        <p:spPr>
          <a:xfrm>
            <a:off x="11109960" y="384048"/>
            <a:ext cx="566928" cy="192756"/>
          </a:xfrm>
          <a:prstGeom prst="ellipse">
            <a:avLst/>
          </a:prstGeom>
          <a:solidFill>
            <a:srgbClr val="1C7293"/>
          </a:solidFill>
          <a:ln/>
        </p:spPr>
      </p:sp>
      <p:sp>
        <p:nvSpPr>
          <p:cNvPr id="5" name="Shape 3"/>
          <p:cNvSpPr/>
          <p:nvPr/>
        </p:nvSpPr>
        <p:spPr>
          <a:xfrm>
            <a:off x="11109960" y="480426"/>
            <a:ext cx="566928" cy="260787"/>
          </a:xfrm>
          <a:prstGeom prst="rect">
            <a:avLst/>
          </a:prstGeom>
          <a:solidFill>
            <a:srgbClr val="1C7293"/>
          </a:solidFill>
          <a:ln/>
        </p:spPr>
      </p:sp>
      <p:sp>
        <p:nvSpPr>
          <p:cNvPr id="6" name="Shape 4"/>
          <p:cNvSpPr/>
          <p:nvPr/>
        </p:nvSpPr>
        <p:spPr>
          <a:xfrm>
            <a:off x="11109960" y="644835"/>
            <a:ext cx="566928" cy="192756"/>
          </a:xfrm>
          <a:prstGeom prst="ellipse">
            <a:avLst/>
          </a:prstGeom>
          <a:solidFill>
            <a:srgbClr val="065A82"/>
          </a:solidFill>
          <a:ln/>
        </p:spPr>
      </p:sp>
      <p:sp>
        <p:nvSpPr>
          <p:cNvPr id="7" name="Shape 5"/>
          <p:cNvSpPr/>
          <p:nvPr/>
        </p:nvSpPr>
        <p:spPr>
          <a:xfrm>
            <a:off x="472288" y="2148840"/>
            <a:ext cx="1920240" cy="1188720"/>
          </a:xfrm>
          <a:prstGeom prst="roundRect">
            <a:avLst>
              <a:gd name="adj" fmla="val 6154"/>
            </a:avLst>
          </a:prstGeom>
          <a:solidFill>
            <a:srgbClr val="0B4F6C"/>
          </a:solidFill>
          <a:ln/>
          <a:effectLst>
            <a:outerShdw sx="100000" sy="100000" kx="0" ky="0" algn="bl" rotWithShape="0" blurRad="63500" dist="25400" dir="5400000">
              <a:srgbClr val="000000">
                <a:alpha val="22000"/>
              </a:srgbClr>
            </a:outerShdw>
          </a:effectLst>
        </p:spPr>
      </p:sp>
      <p:sp>
        <p:nvSpPr>
          <p:cNvPr id="8" name="Text 6"/>
          <p:cNvSpPr txBox="1"/>
          <p:nvPr/>
        </p:nvSpPr>
        <p:spPr>
          <a:xfrm>
            <a:off x="472288" y="2148840"/>
            <a:ext cx="1920240" cy="11887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Job Vacancy</a:t>
            </a:r>
            <a:endParaRPr lang="en-US" sz="1450" dirty="0"/>
          </a:p>
        </p:txBody>
      </p:sp>
      <p:sp>
        <p:nvSpPr>
          <p:cNvPr id="9" name="Text 7"/>
          <p:cNvSpPr txBox="1"/>
          <p:nvPr/>
        </p:nvSpPr>
        <p:spPr>
          <a:xfrm>
            <a:off x="380848" y="3566160"/>
            <a:ext cx="2103120" cy="822960"/>
          </a:xfrm>
          <a:prstGeom prst="rect">
            <a:avLst/>
          </a:prstGeom>
          <a:noFill/>
          <a:ln/>
        </p:spPr>
        <p:txBody>
          <a:bodyPr wrap="square" lIns="0" tIns="0" rIns="0" bIns="0" rtlCol="0" anchor="t"/>
          <a:lstStyle/>
          <a:p>
            <a:pPr algn="ctr" indent="0" marL="0">
              <a:lnSpc>
                <a:spcPct val="115000"/>
              </a:lnSpc>
              <a:buNone/>
            </a:pPr>
            <a:r>
              <a:rPr lang="en-US" sz="1100" i="1" dirty="0">
                <a:solidFill>
                  <a:srgbClr val="6B7280"/>
                </a:solidFill>
                <a:latin typeface="Calibri" pitchFamily="34" charset="0"/>
                <a:ea typeface="Calibri" pitchFamily="34" charset="-122"/>
                <a:cs typeface="Calibri" pitchFamily="34" charset="-120"/>
              </a:rPr>
              <a:t>Openings posted</a:t>
            </a:r>
            <a:endParaRPr lang="en-US" sz="1100" dirty="0"/>
          </a:p>
          <a:p>
            <a:pPr algn="ctr" indent="0" marL="0">
              <a:lnSpc>
                <a:spcPct val="115000"/>
              </a:lnSpc>
              <a:buNone/>
            </a:pPr>
            <a:r>
              <a:rPr lang="en-US" sz="1100" i="1" dirty="0">
                <a:solidFill>
                  <a:srgbClr val="6B7280"/>
                </a:solidFill>
                <a:latin typeface="Calibri" pitchFamily="34" charset="0"/>
                <a:ea typeface="Calibri" pitchFamily="34" charset="-122"/>
                <a:cs typeface="Calibri" pitchFamily="34" charset="-120"/>
              </a:rPr>
              <a:t>across scattered lists</a:t>
            </a:r>
            <a:endParaRPr lang="en-US" sz="1100" dirty="0"/>
          </a:p>
        </p:txBody>
      </p:sp>
      <p:sp>
        <p:nvSpPr>
          <p:cNvPr id="10" name="Shape 8"/>
          <p:cNvSpPr/>
          <p:nvPr/>
        </p:nvSpPr>
        <p:spPr>
          <a:xfrm>
            <a:off x="2392528" y="2606040"/>
            <a:ext cx="411480" cy="274320"/>
          </a:xfrm>
          <a:prstGeom prst="rightArrow">
            <a:avLst/>
          </a:prstGeom>
          <a:solidFill>
            <a:srgbClr val="9AA5B1"/>
          </a:solidFill>
          <a:ln/>
        </p:spPr>
      </p:sp>
      <p:sp>
        <p:nvSpPr>
          <p:cNvPr id="11" name="Shape 9"/>
          <p:cNvSpPr/>
          <p:nvPr/>
        </p:nvSpPr>
        <p:spPr>
          <a:xfrm>
            <a:off x="2804008" y="2148840"/>
            <a:ext cx="1920240" cy="1188720"/>
          </a:xfrm>
          <a:prstGeom prst="roundRect">
            <a:avLst>
              <a:gd name="adj" fmla="val 6154"/>
            </a:avLst>
          </a:prstGeom>
          <a:solidFill>
            <a:srgbClr val="0C6291"/>
          </a:solidFill>
          <a:ln/>
          <a:effectLst>
            <a:outerShdw sx="100000" sy="100000" kx="0" ky="0" algn="bl" rotWithShape="0" blurRad="63500" dist="25400" dir="5400000">
              <a:srgbClr val="000000">
                <a:alpha val="22000"/>
              </a:srgbClr>
            </a:outerShdw>
          </a:effectLst>
        </p:spPr>
      </p:sp>
      <p:sp>
        <p:nvSpPr>
          <p:cNvPr id="12" name="Text 10"/>
          <p:cNvSpPr txBox="1"/>
          <p:nvPr/>
        </p:nvSpPr>
        <p:spPr>
          <a:xfrm>
            <a:off x="2804008" y="2148840"/>
            <a:ext cx="1920240" cy="11887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Application</a:t>
            </a:r>
            <a:endParaRPr lang="en-US" sz="1450" dirty="0"/>
          </a:p>
        </p:txBody>
      </p:sp>
      <p:sp>
        <p:nvSpPr>
          <p:cNvPr id="13" name="Text 11"/>
          <p:cNvSpPr txBox="1"/>
          <p:nvPr/>
        </p:nvSpPr>
        <p:spPr>
          <a:xfrm>
            <a:off x="2712568" y="3566160"/>
            <a:ext cx="2103120" cy="822960"/>
          </a:xfrm>
          <a:prstGeom prst="rect">
            <a:avLst/>
          </a:prstGeom>
          <a:noFill/>
          <a:ln/>
        </p:spPr>
        <p:txBody>
          <a:bodyPr wrap="square" lIns="0" tIns="0" rIns="0" bIns="0" rtlCol="0" anchor="t"/>
          <a:lstStyle/>
          <a:p>
            <a:pPr algn="ctr" indent="0" marL="0">
              <a:lnSpc>
                <a:spcPct val="115000"/>
              </a:lnSpc>
              <a:buNone/>
            </a:pPr>
            <a:r>
              <a:rPr lang="en-US" sz="1100" i="1" dirty="0">
                <a:solidFill>
                  <a:srgbClr val="6B7280"/>
                </a:solidFill>
                <a:latin typeface="Calibri" pitchFamily="34" charset="0"/>
                <a:ea typeface="Calibri" pitchFamily="34" charset="-122"/>
                <a:cs typeface="Calibri" pitchFamily="34" charset="-120"/>
              </a:rPr>
              <a:t>Resumes collected</a:t>
            </a:r>
            <a:endParaRPr lang="en-US" sz="1100" dirty="0"/>
          </a:p>
          <a:p>
            <a:pPr algn="ctr" indent="0" marL="0">
              <a:lnSpc>
                <a:spcPct val="115000"/>
              </a:lnSpc>
              <a:buNone/>
            </a:pPr>
            <a:r>
              <a:rPr lang="en-US" sz="1100" i="1" dirty="0">
                <a:solidFill>
                  <a:srgbClr val="6B7280"/>
                </a:solidFill>
                <a:latin typeface="Calibri" pitchFamily="34" charset="0"/>
                <a:ea typeface="Calibri" pitchFamily="34" charset="-122"/>
                <a:cs typeface="Calibri" pitchFamily="34" charset="-120"/>
              </a:rPr>
              <a:t>as loose files</a:t>
            </a:r>
            <a:endParaRPr lang="en-US" sz="1100" dirty="0"/>
          </a:p>
        </p:txBody>
      </p:sp>
      <p:sp>
        <p:nvSpPr>
          <p:cNvPr id="14" name="Shape 12"/>
          <p:cNvSpPr/>
          <p:nvPr/>
        </p:nvSpPr>
        <p:spPr>
          <a:xfrm>
            <a:off x="4724248" y="2606040"/>
            <a:ext cx="411480" cy="274320"/>
          </a:xfrm>
          <a:prstGeom prst="rightArrow">
            <a:avLst/>
          </a:prstGeom>
          <a:solidFill>
            <a:srgbClr val="9AA5B1"/>
          </a:solidFill>
          <a:ln/>
        </p:spPr>
      </p:sp>
      <p:sp>
        <p:nvSpPr>
          <p:cNvPr id="15" name="Shape 13"/>
          <p:cNvSpPr/>
          <p:nvPr/>
        </p:nvSpPr>
        <p:spPr>
          <a:xfrm>
            <a:off x="5135728" y="2148840"/>
            <a:ext cx="1920240" cy="1188720"/>
          </a:xfrm>
          <a:prstGeom prst="roundRect">
            <a:avLst>
              <a:gd name="adj" fmla="val 6154"/>
            </a:avLst>
          </a:prstGeom>
          <a:solidFill>
            <a:srgbClr val="1C7293"/>
          </a:solidFill>
          <a:ln/>
          <a:effectLst>
            <a:outerShdw sx="100000" sy="100000" kx="0" ky="0" algn="bl" rotWithShape="0" blurRad="63500" dist="25400" dir="5400000">
              <a:srgbClr val="000000">
                <a:alpha val="22000"/>
              </a:srgbClr>
            </a:outerShdw>
          </a:effectLst>
        </p:spPr>
      </p:sp>
      <p:sp>
        <p:nvSpPr>
          <p:cNvPr id="16" name="Text 14"/>
          <p:cNvSpPr txBox="1"/>
          <p:nvPr/>
        </p:nvSpPr>
        <p:spPr>
          <a:xfrm>
            <a:off x="5135728" y="2148840"/>
            <a:ext cx="1920240" cy="11887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Shortlisting</a:t>
            </a:r>
            <a:endParaRPr lang="en-US" sz="1450" dirty="0"/>
          </a:p>
        </p:txBody>
      </p:sp>
      <p:sp>
        <p:nvSpPr>
          <p:cNvPr id="17" name="Text 15"/>
          <p:cNvSpPr txBox="1"/>
          <p:nvPr/>
        </p:nvSpPr>
        <p:spPr>
          <a:xfrm>
            <a:off x="5044288" y="3566160"/>
            <a:ext cx="2103120" cy="822960"/>
          </a:xfrm>
          <a:prstGeom prst="rect">
            <a:avLst/>
          </a:prstGeom>
          <a:noFill/>
          <a:ln/>
        </p:spPr>
        <p:txBody>
          <a:bodyPr wrap="square" lIns="0" tIns="0" rIns="0" bIns="0" rtlCol="0" anchor="t"/>
          <a:lstStyle/>
          <a:p>
            <a:pPr algn="ctr" indent="0" marL="0">
              <a:lnSpc>
                <a:spcPct val="115000"/>
              </a:lnSpc>
              <a:buNone/>
            </a:pPr>
            <a:r>
              <a:rPr lang="en-US" sz="1100" i="1" dirty="0">
                <a:solidFill>
                  <a:srgbClr val="6B7280"/>
                </a:solidFill>
                <a:latin typeface="Calibri" pitchFamily="34" charset="0"/>
                <a:ea typeface="Calibri" pitchFamily="34" charset="-122"/>
                <a:cs typeface="Calibri" pitchFamily="34" charset="-120"/>
              </a:rPr>
              <a:t>Manual, error-prone</a:t>
            </a:r>
            <a:endParaRPr lang="en-US" sz="1100" dirty="0"/>
          </a:p>
          <a:p>
            <a:pPr algn="ctr" indent="0" marL="0">
              <a:lnSpc>
                <a:spcPct val="115000"/>
              </a:lnSpc>
              <a:buNone/>
            </a:pPr>
            <a:r>
              <a:rPr lang="en-US" sz="1100" i="1" dirty="0">
                <a:solidFill>
                  <a:srgbClr val="6B7280"/>
                </a:solidFill>
                <a:latin typeface="Calibri" pitchFamily="34" charset="0"/>
                <a:ea typeface="Calibri" pitchFamily="34" charset="-122"/>
                <a:cs typeface="Calibri" pitchFamily="34" charset="-120"/>
              </a:rPr>
              <a:t>comparison</a:t>
            </a:r>
            <a:endParaRPr lang="en-US" sz="1100" dirty="0"/>
          </a:p>
        </p:txBody>
      </p:sp>
      <p:sp>
        <p:nvSpPr>
          <p:cNvPr id="18" name="Shape 16"/>
          <p:cNvSpPr/>
          <p:nvPr/>
        </p:nvSpPr>
        <p:spPr>
          <a:xfrm>
            <a:off x="7055968" y="2606040"/>
            <a:ext cx="411480" cy="274320"/>
          </a:xfrm>
          <a:prstGeom prst="rightArrow">
            <a:avLst/>
          </a:prstGeom>
          <a:solidFill>
            <a:srgbClr val="9AA5B1"/>
          </a:solidFill>
          <a:ln/>
        </p:spPr>
      </p:sp>
      <p:sp>
        <p:nvSpPr>
          <p:cNvPr id="19" name="Shape 17"/>
          <p:cNvSpPr/>
          <p:nvPr/>
        </p:nvSpPr>
        <p:spPr>
          <a:xfrm>
            <a:off x="7467448" y="2148840"/>
            <a:ext cx="1920240" cy="1188720"/>
          </a:xfrm>
          <a:prstGeom prst="roundRect">
            <a:avLst>
              <a:gd name="adj" fmla="val 6154"/>
            </a:avLst>
          </a:prstGeom>
          <a:solidFill>
            <a:srgbClr val="15879E"/>
          </a:solidFill>
          <a:ln/>
          <a:effectLst>
            <a:outerShdw sx="100000" sy="100000" kx="0" ky="0" algn="bl" rotWithShape="0" blurRad="63500" dist="25400" dir="5400000">
              <a:srgbClr val="000000">
                <a:alpha val="22000"/>
              </a:srgbClr>
            </a:outerShdw>
          </a:effectLst>
        </p:spPr>
      </p:sp>
      <p:sp>
        <p:nvSpPr>
          <p:cNvPr id="20" name="Text 18"/>
          <p:cNvSpPr txBox="1"/>
          <p:nvPr/>
        </p:nvSpPr>
        <p:spPr>
          <a:xfrm>
            <a:off x="7467448" y="2148840"/>
            <a:ext cx="1920240" cy="11887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Interview</a:t>
            </a:r>
            <a:endParaRPr lang="en-US" sz="1450" dirty="0"/>
          </a:p>
        </p:txBody>
      </p:sp>
      <p:sp>
        <p:nvSpPr>
          <p:cNvPr id="21" name="Text 19"/>
          <p:cNvSpPr txBox="1"/>
          <p:nvPr/>
        </p:nvSpPr>
        <p:spPr>
          <a:xfrm>
            <a:off x="7376008" y="3566160"/>
            <a:ext cx="2103120" cy="822960"/>
          </a:xfrm>
          <a:prstGeom prst="rect">
            <a:avLst/>
          </a:prstGeom>
          <a:noFill/>
          <a:ln/>
        </p:spPr>
        <p:txBody>
          <a:bodyPr wrap="square" lIns="0" tIns="0" rIns="0" bIns="0" rtlCol="0" anchor="t"/>
          <a:lstStyle/>
          <a:p>
            <a:pPr algn="ctr" indent="0" marL="0">
              <a:lnSpc>
                <a:spcPct val="115000"/>
              </a:lnSpc>
              <a:buNone/>
            </a:pPr>
            <a:r>
              <a:rPr lang="en-US" sz="1100" i="1" dirty="0">
                <a:solidFill>
                  <a:srgbClr val="6B7280"/>
                </a:solidFill>
                <a:latin typeface="Calibri" pitchFamily="34" charset="0"/>
                <a:ea typeface="Calibri" pitchFamily="34" charset="-122"/>
                <a:cs typeface="Calibri" pitchFamily="34" charset="-120"/>
              </a:rPr>
              <a:t>Schedules tracked</a:t>
            </a:r>
            <a:endParaRPr lang="en-US" sz="1100" dirty="0"/>
          </a:p>
          <a:p>
            <a:pPr algn="ctr" indent="0" marL="0">
              <a:lnSpc>
                <a:spcPct val="115000"/>
              </a:lnSpc>
              <a:buNone/>
            </a:pPr>
            <a:r>
              <a:rPr lang="en-US" sz="1100" i="1" dirty="0">
                <a:solidFill>
                  <a:srgbClr val="6B7280"/>
                </a:solidFill>
                <a:latin typeface="Calibri" pitchFamily="34" charset="0"/>
                <a:ea typeface="Calibri" pitchFamily="34" charset="-122"/>
                <a:cs typeface="Calibri" pitchFamily="34" charset="-120"/>
              </a:rPr>
              <a:t>in spreadsheets</a:t>
            </a:r>
            <a:endParaRPr lang="en-US" sz="1100" dirty="0"/>
          </a:p>
        </p:txBody>
      </p:sp>
      <p:sp>
        <p:nvSpPr>
          <p:cNvPr id="22" name="Shape 20"/>
          <p:cNvSpPr/>
          <p:nvPr/>
        </p:nvSpPr>
        <p:spPr>
          <a:xfrm>
            <a:off x="9387688" y="2606040"/>
            <a:ext cx="411480" cy="274320"/>
          </a:xfrm>
          <a:prstGeom prst="rightArrow">
            <a:avLst/>
          </a:prstGeom>
          <a:solidFill>
            <a:srgbClr val="9AA5B1"/>
          </a:solidFill>
          <a:ln/>
        </p:spPr>
      </p:sp>
      <p:sp>
        <p:nvSpPr>
          <p:cNvPr id="23" name="Shape 21"/>
          <p:cNvSpPr/>
          <p:nvPr/>
        </p:nvSpPr>
        <p:spPr>
          <a:xfrm>
            <a:off x="9799168" y="2148840"/>
            <a:ext cx="1920240" cy="1188720"/>
          </a:xfrm>
          <a:prstGeom prst="roundRect">
            <a:avLst>
              <a:gd name="adj" fmla="val 6154"/>
            </a:avLst>
          </a:prstGeom>
          <a:solidFill>
            <a:srgbClr val="21295C"/>
          </a:solidFill>
          <a:ln/>
          <a:effectLst>
            <a:outerShdw sx="100000" sy="100000" kx="0" ky="0" algn="bl" rotWithShape="0" blurRad="63500" dist="25400" dir="5400000">
              <a:srgbClr val="000000">
                <a:alpha val="22000"/>
              </a:srgbClr>
            </a:outerShdw>
          </a:effectLst>
        </p:spPr>
      </p:sp>
      <p:sp>
        <p:nvSpPr>
          <p:cNvPr id="24" name="Text 22"/>
          <p:cNvSpPr txBox="1"/>
          <p:nvPr/>
        </p:nvSpPr>
        <p:spPr>
          <a:xfrm>
            <a:off x="9799168" y="2148840"/>
            <a:ext cx="1920240" cy="11887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Selection</a:t>
            </a:r>
            <a:endParaRPr lang="en-US" sz="1450" dirty="0"/>
          </a:p>
        </p:txBody>
      </p:sp>
      <p:sp>
        <p:nvSpPr>
          <p:cNvPr id="25" name="Text 23"/>
          <p:cNvSpPr txBox="1"/>
          <p:nvPr/>
        </p:nvSpPr>
        <p:spPr>
          <a:xfrm>
            <a:off x="9707728" y="3566160"/>
            <a:ext cx="2103120" cy="822960"/>
          </a:xfrm>
          <a:prstGeom prst="rect">
            <a:avLst/>
          </a:prstGeom>
          <a:noFill/>
          <a:ln/>
        </p:spPr>
        <p:txBody>
          <a:bodyPr wrap="square" lIns="0" tIns="0" rIns="0" bIns="0" rtlCol="0" anchor="t"/>
          <a:lstStyle/>
          <a:p>
            <a:pPr algn="ctr" indent="0" marL="0">
              <a:lnSpc>
                <a:spcPct val="115000"/>
              </a:lnSpc>
              <a:buNone/>
            </a:pPr>
            <a:r>
              <a:rPr lang="en-US" sz="1100" i="1" dirty="0">
                <a:solidFill>
                  <a:srgbClr val="6B7280"/>
                </a:solidFill>
                <a:latin typeface="Calibri" pitchFamily="34" charset="0"/>
                <a:ea typeface="Calibri" pitchFamily="34" charset="-122"/>
                <a:cs typeface="Calibri" pitchFamily="34" charset="-120"/>
              </a:rPr>
              <a:t>Results hard to</a:t>
            </a:r>
            <a:endParaRPr lang="en-US" sz="1100" dirty="0"/>
          </a:p>
          <a:p>
            <a:pPr algn="ctr" indent="0" marL="0">
              <a:lnSpc>
                <a:spcPct val="115000"/>
              </a:lnSpc>
              <a:buNone/>
            </a:pPr>
            <a:r>
              <a:rPr lang="en-US" sz="1100" i="1" dirty="0">
                <a:solidFill>
                  <a:srgbClr val="6B7280"/>
                </a:solidFill>
                <a:latin typeface="Calibri" pitchFamily="34" charset="0"/>
                <a:ea typeface="Calibri" pitchFamily="34" charset="-122"/>
                <a:cs typeface="Calibri" pitchFamily="34" charset="-120"/>
              </a:rPr>
              <a:t>consolidate &amp; report</a:t>
            </a:r>
            <a:endParaRPr lang="en-US" sz="1100" dirty="0"/>
          </a:p>
        </p:txBody>
      </p:sp>
      <p:sp>
        <p:nvSpPr>
          <p:cNvPr id="26" name="Text 24"/>
          <p:cNvSpPr txBox="1"/>
          <p:nvPr/>
        </p:nvSpPr>
        <p:spPr>
          <a:xfrm>
            <a:off x="1097280" y="4617720"/>
            <a:ext cx="9994392" cy="548640"/>
          </a:xfrm>
          <a:prstGeom prst="rect">
            <a:avLst/>
          </a:prstGeom>
          <a:noFill/>
          <a:ln/>
        </p:spPr>
        <p:txBody>
          <a:bodyPr wrap="square" lIns="0" tIns="0" rIns="0" bIns="0" rtlCol="0" anchor="ctr"/>
          <a:lstStyle/>
          <a:p>
            <a:pPr algn="ctr" indent="0" marL="0">
              <a:buNone/>
            </a:pPr>
            <a:r>
              <a:rPr lang="en-US" sz="1400" i="1" dirty="0">
                <a:solidFill>
                  <a:srgbClr val="21295C"/>
                </a:solidFill>
                <a:latin typeface="Calibri" pitchFamily="34" charset="0"/>
                <a:ea typeface="Calibri" pitchFamily="34" charset="-122"/>
                <a:cs typeface="Calibri" pitchFamily="34" charset="-120"/>
              </a:rPr>
              <a:t>Without integration, disconnected stages lead to delays, data errors, and lost visibility across the hiring pipeline.</a:t>
            </a:r>
            <a:endParaRPr lang="en-US" sz="1400" dirty="0"/>
          </a:p>
        </p:txBody>
      </p:sp>
      <p:sp>
        <p:nvSpPr>
          <p:cNvPr id="27" name="Text 25"/>
          <p:cNvSpPr txBox="1"/>
          <p:nvPr/>
        </p:nvSpPr>
        <p:spPr>
          <a:xfrm>
            <a:off x="8686800" y="6473952"/>
            <a:ext cx="3044952" cy="27432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B.Tech CSE / AI-ML  |  DBMS Project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881360" y="502920"/>
            <a:ext cx="685800" cy="233172"/>
          </a:xfrm>
          <a:prstGeom prst="ellipse">
            <a:avLst/>
          </a:prstGeom>
          <a:solidFill>
            <a:srgbClr val="3AA0B8"/>
          </a:solidFill>
          <a:ln/>
        </p:spPr>
      </p:sp>
      <p:sp>
        <p:nvSpPr>
          <p:cNvPr id="3" name="Shape 1"/>
          <p:cNvSpPr/>
          <p:nvPr/>
        </p:nvSpPr>
        <p:spPr>
          <a:xfrm>
            <a:off x="10881360" y="619506"/>
            <a:ext cx="685800" cy="315468"/>
          </a:xfrm>
          <a:prstGeom prst="rect">
            <a:avLst/>
          </a:prstGeom>
          <a:solidFill>
            <a:srgbClr val="3AA0B8"/>
          </a:solidFill>
          <a:ln/>
        </p:spPr>
      </p:sp>
      <p:sp>
        <p:nvSpPr>
          <p:cNvPr id="4" name="Shape 2"/>
          <p:cNvSpPr/>
          <p:nvPr/>
        </p:nvSpPr>
        <p:spPr>
          <a:xfrm>
            <a:off x="10881360" y="818388"/>
            <a:ext cx="685800" cy="233172"/>
          </a:xfrm>
          <a:prstGeom prst="ellipse">
            <a:avLst/>
          </a:prstGeom>
          <a:solidFill>
            <a:srgbClr val="065A82"/>
          </a:solidFill>
          <a:ln/>
        </p:spPr>
      </p:sp>
      <p:sp>
        <p:nvSpPr>
          <p:cNvPr id="5" name="Text 3"/>
          <p:cNvSpPr txBox="1"/>
          <p:nvPr/>
        </p:nvSpPr>
        <p:spPr>
          <a:xfrm>
            <a:off x="731520" y="1371600"/>
            <a:ext cx="1069848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The Need for a Centralized System</a:t>
            </a:r>
            <a:endParaRPr lang="en-US" sz="3200" dirty="0"/>
          </a:p>
        </p:txBody>
      </p:sp>
      <p:sp>
        <p:nvSpPr>
          <p:cNvPr id="6" name="Shape 4"/>
          <p:cNvSpPr/>
          <p:nvPr/>
        </p:nvSpPr>
        <p:spPr>
          <a:xfrm>
            <a:off x="1280160" y="2514600"/>
            <a:ext cx="9628632" cy="1371600"/>
          </a:xfrm>
          <a:prstGeom prst="roundRect">
            <a:avLst>
              <a:gd name="adj" fmla="val 5333"/>
            </a:avLst>
          </a:prstGeom>
          <a:solidFill>
            <a:srgbClr val="263268"/>
          </a:solidFill>
          <a:ln w="12700">
            <a:solidFill>
              <a:srgbClr val="3AA0B8"/>
            </a:solidFill>
            <a:prstDash val="solid"/>
          </a:ln>
        </p:spPr>
      </p:sp>
      <p:sp>
        <p:nvSpPr>
          <p:cNvPr id="7" name="Text 5"/>
          <p:cNvSpPr txBox="1"/>
          <p:nvPr/>
        </p:nvSpPr>
        <p:spPr>
          <a:xfrm>
            <a:off x="1600200" y="2514600"/>
            <a:ext cx="8988552" cy="1371600"/>
          </a:xfrm>
          <a:prstGeom prst="rect">
            <a:avLst/>
          </a:prstGeom>
          <a:noFill/>
          <a:ln/>
        </p:spPr>
        <p:txBody>
          <a:bodyPr wrap="square" lIns="0" tIns="0" rIns="0" bIns="0" rtlCol="0" anchor="ctr"/>
          <a:lstStyle/>
          <a:p>
            <a:pPr algn="ctr" indent="0" marL="0">
              <a:lnSpc>
                <a:spcPct val="120000"/>
              </a:lnSpc>
              <a:buNone/>
            </a:pPr>
            <a:r>
              <a:rPr lang="en-US" sz="1600" b="1" i="1" dirty="0">
                <a:solidFill>
                  <a:srgbClr val="FFFFFF"/>
                </a:solidFill>
                <a:latin typeface="Calibri" pitchFamily="34" charset="0"/>
                <a:ea typeface="Calibri" pitchFamily="34" charset="-122"/>
                <a:cs typeface="Calibri" pitchFamily="34" charset="-120"/>
              </a:rPr>
              <a:t>Therefore, </a:t>
            </a:r>
            <a:pPr algn="ctr" indent="0" marL="0">
              <a:lnSpc>
                <a:spcPct val="120000"/>
              </a:lnSpc>
              <a:buNone/>
            </a:pPr>
            <a:r>
              <a:rPr lang="en-US" sz="1600" i="1" dirty="0">
                <a:solidFill>
                  <a:srgbClr val="D7DEEF"/>
                </a:solidFill>
                <a:latin typeface="Calibri" pitchFamily="34" charset="0"/>
                <a:ea typeface="Calibri" pitchFamily="34" charset="-122"/>
                <a:cs typeface="Calibri" pitchFamily="34" charset="-120"/>
              </a:rPr>
              <a:t>there is a need for a centralized database management system that efficiently stores, organizes, retrieves, and tracks recruitment and applicant information throughout the hiring process.</a:t>
            </a:r>
            <a:endParaRPr lang="en-US" sz="1600" dirty="0"/>
          </a:p>
        </p:txBody>
      </p:sp>
      <p:sp>
        <p:nvSpPr>
          <p:cNvPr id="8" name="Shape 6"/>
          <p:cNvSpPr/>
          <p:nvPr/>
        </p:nvSpPr>
        <p:spPr>
          <a:xfrm>
            <a:off x="1546708" y="4572000"/>
            <a:ext cx="2148840" cy="502920"/>
          </a:xfrm>
          <a:prstGeom prst="roundRect">
            <a:avLst>
              <a:gd name="adj" fmla="val 50909"/>
            </a:avLst>
          </a:prstGeom>
          <a:solidFill>
            <a:srgbClr val="1C7293"/>
          </a:solidFill>
          <a:ln/>
        </p:spPr>
      </p:sp>
      <p:sp>
        <p:nvSpPr>
          <p:cNvPr id="9" name="Text 7"/>
          <p:cNvSpPr txBox="1"/>
          <p:nvPr/>
        </p:nvSpPr>
        <p:spPr>
          <a:xfrm>
            <a:off x="1546708" y="4572000"/>
            <a:ext cx="21488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Centralized Storage</a:t>
            </a:r>
            <a:endParaRPr lang="en-US" sz="1250" dirty="0"/>
          </a:p>
        </p:txBody>
      </p:sp>
      <p:sp>
        <p:nvSpPr>
          <p:cNvPr id="10" name="Shape 8"/>
          <p:cNvSpPr/>
          <p:nvPr/>
        </p:nvSpPr>
        <p:spPr>
          <a:xfrm>
            <a:off x="3969868" y="4572000"/>
            <a:ext cx="1920240" cy="502920"/>
          </a:xfrm>
          <a:prstGeom prst="roundRect">
            <a:avLst>
              <a:gd name="adj" fmla="val 50909"/>
            </a:avLst>
          </a:prstGeom>
          <a:solidFill>
            <a:srgbClr val="1C7293"/>
          </a:solidFill>
          <a:ln/>
        </p:spPr>
      </p:sp>
      <p:sp>
        <p:nvSpPr>
          <p:cNvPr id="11" name="Text 9"/>
          <p:cNvSpPr txBox="1"/>
          <p:nvPr/>
        </p:nvSpPr>
        <p:spPr>
          <a:xfrm>
            <a:off x="3969868" y="4572000"/>
            <a:ext cx="19202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Consistent Data</a:t>
            </a:r>
            <a:endParaRPr lang="en-US" sz="1250" dirty="0"/>
          </a:p>
        </p:txBody>
      </p:sp>
      <p:sp>
        <p:nvSpPr>
          <p:cNvPr id="12" name="Shape 10"/>
          <p:cNvSpPr/>
          <p:nvPr/>
        </p:nvSpPr>
        <p:spPr>
          <a:xfrm>
            <a:off x="6164428" y="4572000"/>
            <a:ext cx="2103120" cy="502920"/>
          </a:xfrm>
          <a:prstGeom prst="roundRect">
            <a:avLst>
              <a:gd name="adj" fmla="val 50909"/>
            </a:avLst>
          </a:prstGeom>
          <a:solidFill>
            <a:srgbClr val="1C7293"/>
          </a:solidFill>
          <a:ln/>
        </p:spPr>
      </p:sp>
      <p:sp>
        <p:nvSpPr>
          <p:cNvPr id="13" name="Text 11"/>
          <p:cNvSpPr txBox="1"/>
          <p:nvPr/>
        </p:nvSpPr>
        <p:spPr>
          <a:xfrm>
            <a:off x="6164428" y="4572000"/>
            <a:ext cx="21031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Real-Time Tracking</a:t>
            </a:r>
            <a:endParaRPr lang="en-US" sz="1250" dirty="0"/>
          </a:p>
        </p:txBody>
      </p:sp>
      <p:sp>
        <p:nvSpPr>
          <p:cNvPr id="14" name="Shape 12"/>
          <p:cNvSpPr/>
          <p:nvPr/>
        </p:nvSpPr>
        <p:spPr>
          <a:xfrm>
            <a:off x="8541868" y="4572000"/>
            <a:ext cx="2103120" cy="502920"/>
          </a:xfrm>
          <a:prstGeom prst="roundRect">
            <a:avLst>
              <a:gd name="adj" fmla="val 50909"/>
            </a:avLst>
          </a:prstGeom>
          <a:solidFill>
            <a:srgbClr val="1C7293"/>
          </a:solidFill>
          <a:ln/>
        </p:spPr>
      </p:sp>
      <p:sp>
        <p:nvSpPr>
          <p:cNvPr id="15" name="Text 13"/>
          <p:cNvSpPr txBox="1"/>
          <p:nvPr/>
        </p:nvSpPr>
        <p:spPr>
          <a:xfrm>
            <a:off x="8541868" y="4572000"/>
            <a:ext cx="21031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Accurate Reporting</a:t>
            </a:r>
            <a:endParaRPr lang="en-US" sz="1250" dirty="0"/>
          </a:p>
        </p:txBody>
      </p:sp>
      <p:sp>
        <p:nvSpPr>
          <p:cNvPr id="16" name="Text 14"/>
          <p:cNvSpPr txBox="1"/>
          <p:nvPr/>
        </p:nvSpPr>
        <p:spPr>
          <a:xfrm>
            <a:off x="8686800" y="6473952"/>
            <a:ext cx="3044952" cy="274320"/>
          </a:xfrm>
          <a:prstGeom prst="rect">
            <a:avLst/>
          </a:prstGeom>
          <a:noFill/>
          <a:ln/>
        </p:spPr>
        <p:txBody>
          <a:bodyPr wrap="square" lIns="0" tIns="0" rIns="0" bIns="0" rtlCol="0" anchor="ctr"/>
          <a:lstStyle/>
          <a:p>
            <a:pPr algn="r" indent="0" marL="0">
              <a:buNone/>
            </a:pPr>
            <a:r>
              <a:rPr lang="en-US" sz="900" dirty="0">
                <a:solidFill>
                  <a:srgbClr val="AEB9D6"/>
                </a:solidFill>
                <a:latin typeface="Calibri" pitchFamily="34" charset="0"/>
                <a:ea typeface="Calibri" pitchFamily="34" charset="-122"/>
                <a:cs typeface="Calibri" pitchFamily="34" charset="-120"/>
              </a:rPr>
              <a:t>B.Tech CSE / AI-ML  |  DBMS Project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2026-08-26T01:34:29Z</dcterms:created>
  <dcterms:modified xsi:type="dcterms:W3CDTF">2026-08-26T01:34:29Z</dcterms:modified>
</cp:coreProperties>
</file>