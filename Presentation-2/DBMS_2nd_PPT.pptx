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agel Fat One" pitchFamily="2" charset="-127"/>
      <p:regular r:id="rId10"/>
    </p:embeddedFont>
    <p:embeddedFont>
      <p:font typeface="Anton" pitchFamily="2" charset="0"/>
      <p:regular r:id="rId11"/>
    </p:embeddedFont>
    <p:embeddedFont>
      <p:font typeface="Arimo Bold" panose="020B0704020202020204" pitchFamily="34" charset="0"/>
      <p:regular r:id="rId12"/>
    </p:embeddedFont>
    <p:embeddedFont>
      <p:font typeface="Bobby Jones Condensed Soft" pitchFamily="2" charset="0"/>
      <p:regular r:id="rId13"/>
    </p:embeddedFont>
    <p:embeddedFont>
      <p:font typeface="Canva Student Font" pitchFamily="2" charset="0"/>
      <p:regular r:id="rId14"/>
    </p:embeddedFont>
    <p:embeddedFont>
      <p:font typeface="Codec Pro" pitchFamily="2" charset="0"/>
      <p:regular r:id="rId15"/>
    </p:embeddedFont>
    <p:embeddedFont>
      <p:font typeface="DM Sans Bold" pitchFamily="2" charset="0"/>
      <p:regular r:id="rId16"/>
    </p:embeddedFont>
    <p:embeddedFont>
      <p:font typeface="DM Sans Bold Italics" pitchFamily="2" charset="0"/>
      <p:regular r:id="rId17"/>
    </p:embeddedFont>
    <p:embeddedFont>
      <p:font typeface="IBM Plex Mono" panose="02000000000000000000" pitchFamily="2" charset="0"/>
      <p:regular r:id="rId18"/>
    </p:embeddedFont>
    <p:embeddedFont>
      <p:font typeface="Jeepers" panose="02000000000000000000" pitchFamily="2" charset="0"/>
      <p:regular r:id="rId19"/>
    </p:embeddedFont>
    <p:embeddedFont>
      <p:font typeface="Rig Solid Bold Halftone" pitchFamily="2" charset="0"/>
      <p:regular r:id="rId20"/>
    </p:embeddedFont>
    <p:embeddedFont>
      <p:font typeface="Rubik Glitch" pitchFamily="2" charset="-79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18" Type="http://schemas.openxmlformats.org/officeDocument/2006/relationships/font" Target="fonts/font9.fntdata" /><Relationship Id="rId3" Type="http://schemas.openxmlformats.org/officeDocument/2006/relationships/slide" Target="slides/slide2.xml" /><Relationship Id="rId21" Type="http://schemas.openxmlformats.org/officeDocument/2006/relationships/font" Target="fonts/font12.fntdata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font" Target="fonts/font8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font" Target="fonts/font7.fntdata" /><Relationship Id="rId20" Type="http://schemas.openxmlformats.org/officeDocument/2006/relationships/font" Target="fonts/font11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font" Target="fonts/font6.fntdata" /><Relationship Id="rId23" Type="http://schemas.openxmlformats.org/officeDocument/2006/relationships/viewProps" Target="viewProps.xml" /><Relationship Id="rId10" Type="http://schemas.openxmlformats.org/officeDocument/2006/relationships/font" Target="fonts/font1.fntdata" /><Relationship Id="rId19" Type="http://schemas.openxmlformats.org/officeDocument/2006/relationships/font" Target="fonts/font10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5.fntdata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2343" y="1209264"/>
            <a:ext cx="5430461" cy="8585709"/>
          </a:xfrm>
          <a:custGeom>
            <a:avLst/>
            <a:gdLst/>
            <a:ahLst/>
            <a:cxnLst/>
            <a:rect l="l" t="t" r="r" b="b"/>
            <a:pathLst>
              <a:path w="5430461" h="8585709">
                <a:moveTo>
                  <a:pt x="0" y="0"/>
                </a:moveTo>
                <a:lnTo>
                  <a:pt x="5430460" y="0"/>
                </a:lnTo>
                <a:lnTo>
                  <a:pt x="5430460" y="8585709"/>
                </a:lnTo>
                <a:lnTo>
                  <a:pt x="0" y="8585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22789" y="8920583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5"/>
                </a:lnTo>
                <a:lnTo>
                  <a:pt x="0" y="2430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29709">
            <a:off x="5822328" y="-420503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5" y="0"/>
                </a:lnTo>
                <a:lnTo>
                  <a:pt x="964815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15797" y="-798152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4"/>
                </a:lnTo>
                <a:lnTo>
                  <a:pt x="0" y="2430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329709">
            <a:off x="10025191" y="1176397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29709">
            <a:off x="12236935" y="8269726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29709">
            <a:off x="5822328" y="7844911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5" y="0"/>
                </a:lnTo>
                <a:lnTo>
                  <a:pt x="964815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329709">
            <a:off x="-482407" y="7844911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329709">
            <a:off x="-482567" y="1706898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21795" y="-1401635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5"/>
                </a:lnTo>
                <a:lnTo>
                  <a:pt x="0" y="2430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10443" y="9258300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5"/>
                </a:lnTo>
                <a:lnTo>
                  <a:pt x="0" y="2430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655337" y="1920635"/>
            <a:ext cx="6052201" cy="1523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446608" y="1939685"/>
            <a:ext cx="5857968" cy="492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437395" y="2685721"/>
            <a:ext cx="12978272" cy="237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497"/>
              </a:lnSpc>
            </a:pPr>
            <a:r>
              <a:rPr lang="en-US" sz="6783">
                <a:solidFill>
                  <a:srgbClr val="06340A"/>
                </a:solidFill>
                <a:latin typeface="Bobby Jones Condensed Soft"/>
                <a:ea typeface="Bobby Jones Condensed Soft"/>
                <a:cs typeface="Bobby Jones Condensed Soft"/>
                <a:sym typeface="Bobby Jones Condensed Soft"/>
              </a:rPr>
              <a:t>Design and Implementation of a DBMS for Recruitment and Applicant Tracking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2706" y="1199739"/>
            <a:ext cx="5941870" cy="73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4803">
                <a:solidFill>
                  <a:srgbClr val="06340A"/>
                </a:solidFill>
                <a:latin typeface="Bobby Jones Condensed Soft"/>
                <a:ea typeface="Bobby Jones Condensed Soft"/>
                <a:cs typeface="Bobby Jones Condensed Soft"/>
                <a:sym typeface="Bobby Jones Condensed Soft"/>
              </a:rPr>
              <a:t>DATABASE MANAGEMENT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6768" y="7338888"/>
            <a:ext cx="795181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7B024D"/>
                </a:solidFill>
                <a:latin typeface="Rig Solid Bold Halftone"/>
                <a:ea typeface="Rig Solid Bold Halftone"/>
                <a:cs typeface="Rig Solid Bold Halftone"/>
                <a:sym typeface="Rig Solid Bold Halftone"/>
              </a:rPr>
              <a:t>Sirigiri Sruti - 25WU0102266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7395" y="8024455"/>
            <a:ext cx="513928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4"/>
              </a:lnSpc>
              <a:spcBef>
                <a:spcPct val="0"/>
              </a:spcBef>
            </a:pPr>
            <a:r>
              <a:rPr lang="en-US" sz="4895">
                <a:solidFill>
                  <a:srgbClr val="3B1B72"/>
                </a:solidFill>
                <a:latin typeface="Rubik Glitch"/>
                <a:ea typeface="Rubik Glitch"/>
                <a:cs typeface="Rubik Glitch"/>
                <a:sym typeface="Rubik Glitch"/>
              </a:rPr>
              <a:t>AIML WHALES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78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1749" y="-343943"/>
            <a:ext cx="21887875" cy="10974886"/>
            <a:chOff x="0" y="0"/>
            <a:chExt cx="29183834" cy="146331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3181" cy="14633181"/>
            </a:xfrm>
            <a:custGeom>
              <a:avLst/>
              <a:gdLst/>
              <a:ahLst/>
              <a:cxnLst/>
              <a:rect l="l" t="t" r="r" b="b"/>
              <a:pathLst>
                <a:path w="14633181" h="14633181">
                  <a:moveTo>
                    <a:pt x="0" y="0"/>
                  </a:moveTo>
                  <a:lnTo>
                    <a:pt x="14633181" y="0"/>
                  </a:lnTo>
                  <a:lnTo>
                    <a:pt x="14633181" y="14633181"/>
                  </a:lnTo>
                  <a:lnTo>
                    <a:pt x="0" y="1463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550653" y="0"/>
              <a:ext cx="14633181" cy="14633181"/>
            </a:xfrm>
            <a:custGeom>
              <a:avLst/>
              <a:gdLst/>
              <a:ahLst/>
              <a:cxnLst/>
              <a:rect l="l" t="t" r="r" b="b"/>
              <a:pathLst>
                <a:path w="14633181" h="14633181">
                  <a:moveTo>
                    <a:pt x="14633181" y="0"/>
                  </a:moveTo>
                  <a:lnTo>
                    <a:pt x="0" y="0"/>
                  </a:lnTo>
                  <a:lnTo>
                    <a:pt x="0" y="14633181"/>
                  </a:lnTo>
                  <a:lnTo>
                    <a:pt x="14633181" y="14633181"/>
                  </a:lnTo>
                  <a:lnTo>
                    <a:pt x="14633181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637999" y="1028700"/>
            <a:ext cx="15103400" cy="8229600"/>
            <a:chOff x="0" y="0"/>
            <a:chExt cx="3977850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850" cy="2167467"/>
            </a:xfrm>
            <a:custGeom>
              <a:avLst/>
              <a:gdLst/>
              <a:ahLst/>
              <a:cxnLst/>
              <a:rect l="l" t="t" r="r" b="b"/>
              <a:pathLst>
                <a:path w="3977850" h="2167467">
                  <a:moveTo>
                    <a:pt x="51259" y="0"/>
                  </a:moveTo>
                  <a:lnTo>
                    <a:pt x="3926591" y="0"/>
                  </a:lnTo>
                  <a:cubicBezTo>
                    <a:pt x="3940185" y="0"/>
                    <a:pt x="3953224" y="5401"/>
                    <a:pt x="3962837" y="15014"/>
                  </a:cubicBezTo>
                  <a:cubicBezTo>
                    <a:pt x="3972450" y="24627"/>
                    <a:pt x="3977850" y="37665"/>
                    <a:pt x="3977850" y="51259"/>
                  </a:cubicBezTo>
                  <a:lnTo>
                    <a:pt x="3977850" y="2116207"/>
                  </a:lnTo>
                  <a:cubicBezTo>
                    <a:pt x="3977850" y="2129802"/>
                    <a:pt x="3972450" y="2142840"/>
                    <a:pt x="3962837" y="2152453"/>
                  </a:cubicBezTo>
                  <a:cubicBezTo>
                    <a:pt x="3953224" y="2162066"/>
                    <a:pt x="3940185" y="2167467"/>
                    <a:pt x="3926591" y="2167467"/>
                  </a:cubicBezTo>
                  <a:lnTo>
                    <a:pt x="51259" y="2167467"/>
                  </a:lnTo>
                  <a:cubicBezTo>
                    <a:pt x="37665" y="2167467"/>
                    <a:pt x="24627" y="2162066"/>
                    <a:pt x="15014" y="2152453"/>
                  </a:cubicBezTo>
                  <a:cubicBezTo>
                    <a:pt x="5401" y="2142840"/>
                    <a:pt x="0" y="2129802"/>
                    <a:pt x="0" y="2116207"/>
                  </a:cubicBezTo>
                  <a:lnTo>
                    <a:pt x="0" y="51259"/>
                  </a:lnTo>
                  <a:cubicBezTo>
                    <a:pt x="0" y="37665"/>
                    <a:pt x="5401" y="24627"/>
                    <a:pt x="15014" y="15014"/>
                  </a:cubicBezTo>
                  <a:cubicBezTo>
                    <a:pt x="24627" y="5401"/>
                    <a:pt x="37665" y="0"/>
                    <a:pt x="5125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77850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153744" y="6364197"/>
            <a:ext cx="3024056" cy="4266746"/>
          </a:xfrm>
          <a:custGeom>
            <a:avLst/>
            <a:gdLst/>
            <a:ahLst/>
            <a:cxnLst/>
            <a:rect l="l" t="t" r="r" b="b"/>
            <a:pathLst>
              <a:path w="3024056" h="4266746">
                <a:moveTo>
                  <a:pt x="0" y="0"/>
                </a:moveTo>
                <a:lnTo>
                  <a:pt x="3024057" y="0"/>
                </a:lnTo>
                <a:lnTo>
                  <a:pt x="3024057" y="4266746"/>
                </a:lnTo>
                <a:lnTo>
                  <a:pt x="0" y="426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68327" y="1301292"/>
            <a:ext cx="8442742" cy="95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522" spc="71">
                <a:solidFill>
                  <a:srgbClr val="EB534B"/>
                </a:solidFill>
                <a:latin typeface="Bagel Fat One"/>
                <a:ea typeface="Bagel Fat One"/>
                <a:cs typeface="Bagel Fat One"/>
                <a:sym typeface="Bagel Fat One"/>
              </a:rPr>
              <a:t>INTRODUCTION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5780" y="2927641"/>
            <a:ext cx="5468039" cy="54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717">
                <a:solidFill>
                  <a:srgbClr val="7B024D"/>
                </a:solidFill>
                <a:latin typeface="Bagel Fat One"/>
                <a:ea typeface="Bagel Fat One"/>
                <a:cs typeface="Bagel Fat One"/>
                <a:sym typeface="Bagel Fat One"/>
              </a:rPr>
              <a:t>CONTEXT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35780" y="3913681"/>
            <a:ext cx="6808220" cy="42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35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Recruitment connects </a:t>
            </a:r>
          </a:p>
          <a:p>
            <a:pPr algn="l">
              <a:lnSpc>
                <a:spcPts val="4207"/>
              </a:lnSpc>
            </a:pPr>
            <a:endParaRPr lang="en-US" sz="3512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3968"/>
              </a:lnSpc>
            </a:pPr>
            <a:r>
              <a:rPr lang="en-US" sz="351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Applicants · jobs · applications</a:t>
            </a:r>
          </a:p>
          <a:p>
            <a:pPr algn="l">
              <a:lnSpc>
                <a:spcPts val="3968"/>
              </a:lnSpc>
            </a:pPr>
            <a:r>
              <a:rPr lang="en-US" sz="351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Interviews · selection</a:t>
            </a:r>
          </a:p>
          <a:p>
            <a:pPr algn="l">
              <a:lnSpc>
                <a:spcPts val="3968"/>
              </a:lnSpc>
            </a:pPr>
            <a:endParaRPr lang="en-US" sz="3512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29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Separate information creates duplication, inconsistency, and difficult application tracking.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1330" y="2927641"/>
            <a:ext cx="5468039" cy="54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717" u="none" strike="noStrike">
                <a:solidFill>
                  <a:srgbClr val="7B024D"/>
                </a:solidFill>
                <a:latin typeface="Bagel Fat One"/>
                <a:ea typeface="Bagel Fat One"/>
                <a:cs typeface="Bagel Fat One"/>
                <a:sym typeface="Bagel Fat One"/>
              </a:rPr>
              <a:t>GOAL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1271" y="3913681"/>
            <a:ext cx="6620723" cy="413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55"/>
              </a:lnSpc>
              <a:spcBef>
                <a:spcPct val="0"/>
              </a:spcBef>
            </a:pPr>
            <a:r>
              <a:rPr lang="en-US" sz="3412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One centralized relational database</a:t>
            </a:r>
          </a:p>
          <a:p>
            <a:pPr marL="0" lvl="0" indent="0" algn="l">
              <a:lnSpc>
                <a:spcPts val="2273"/>
              </a:lnSpc>
              <a:spcBef>
                <a:spcPct val="0"/>
              </a:spcBef>
            </a:pPr>
            <a:endParaRPr lang="en-US" sz="3412" u="none" strike="noStrike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>
              <a:lnSpc>
                <a:spcPts val="3290"/>
              </a:lnSpc>
              <a:spcBef>
                <a:spcPct val="0"/>
              </a:spcBef>
            </a:pPr>
            <a:r>
              <a:rPr lang="en-US" sz="2912" u="none" strike="noStrik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Store once.</a:t>
            </a:r>
          </a:p>
          <a:p>
            <a:pPr marL="0" lvl="0" indent="0" algn="l">
              <a:lnSpc>
                <a:spcPts val="3290"/>
              </a:lnSpc>
              <a:spcBef>
                <a:spcPct val="0"/>
              </a:spcBef>
            </a:pPr>
            <a:r>
              <a:rPr lang="en-US" sz="2912" u="none" strike="noStrik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Track clearly.</a:t>
            </a:r>
          </a:p>
          <a:p>
            <a:pPr marL="0" lvl="0" indent="0" algn="l">
              <a:lnSpc>
                <a:spcPts val="3290"/>
              </a:lnSpc>
              <a:spcBef>
                <a:spcPct val="0"/>
              </a:spcBef>
            </a:pPr>
            <a:r>
              <a:rPr lang="en-US" sz="2912" u="none" strike="noStrik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Retrieve quickly.</a:t>
            </a:r>
          </a:p>
          <a:p>
            <a:pPr marL="0" lvl="0" indent="0" algn="l">
              <a:lnSpc>
                <a:spcPts val="3290"/>
              </a:lnSpc>
              <a:spcBef>
                <a:spcPct val="0"/>
              </a:spcBef>
            </a:pPr>
            <a:endParaRPr lang="en-US" sz="2912" u="none" strike="noStrike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0" lvl="0" indent="0" algn="l">
              <a:lnSpc>
                <a:spcPts val="4533"/>
              </a:lnSpc>
              <a:spcBef>
                <a:spcPct val="0"/>
              </a:spcBef>
            </a:pPr>
            <a:r>
              <a:rPr lang="en-US" sz="4012" u="none" strike="noStrike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connected data model supports efficient storage, tracking, and retrieval across the recruitment flow.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651760" y="614422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9521330" y="6106120"/>
            <a:ext cx="611235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09575"/>
            <a:ext cx="114300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ENTITY–RELATIONSHIP (ER) DIAGRAM</a:t>
            </a:r>
          </a:p>
        </p:txBody>
      </p:sp>
      <p:sp>
        <p:nvSpPr>
          <p:cNvPr id="3" name="AutoShape 3"/>
          <p:cNvSpPr/>
          <p:nvPr/>
        </p:nvSpPr>
        <p:spPr>
          <a:xfrm>
            <a:off x="857250" y="952500"/>
            <a:ext cx="16573500" cy="0"/>
          </a:xfrm>
          <a:prstGeom prst="line">
            <a:avLst/>
          </a:prstGeom>
          <a:ln w="28575" cap="flat">
            <a:solidFill>
              <a:srgbClr val="D7B85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287750" y="1123950"/>
            <a:ext cx="809625" cy="95250"/>
            <a:chOff x="0" y="0"/>
            <a:chExt cx="1079500" cy="12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9500" cy="127000"/>
            </a:xfrm>
            <a:custGeom>
              <a:avLst/>
              <a:gdLst/>
              <a:ahLst/>
              <a:cxnLst/>
              <a:rect l="l" t="t" r="r" b="b"/>
              <a:pathLst>
                <a:path w="1079500" h="127000">
                  <a:moveTo>
                    <a:pt x="63500" y="0"/>
                  </a:moveTo>
                  <a:lnTo>
                    <a:pt x="1016000" y="0"/>
                  </a:lnTo>
                  <a:cubicBezTo>
                    <a:pt x="1051070" y="0"/>
                    <a:pt x="1079500" y="28430"/>
                    <a:pt x="1079500" y="63500"/>
                  </a:cubicBezTo>
                  <a:cubicBezTo>
                    <a:pt x="1079500" y="98570"/>
                    <a:pt x="1051070" y="127000"/>
                    <a:pt x="101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DD41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795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0" y="1123950"/>
            <a:ext cx="285750" cy="95250"/>
            <a:chOff x="0" y="0"/>
            <a:chExt cx="381000" cy="12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0" cy="127000"/>
            </a:xfrm>
            <a:custGeom>
              <a:avLst/>
              <a:gdLst/>
              <a:ahLst/>
              <a:cxnLst/>
              <a:rect l="l" t="t" r="r" b="b"/>
              <a:pathLst>
                <a:path w="381000" h="127000">
                  <a:moveTo>
                    <a:pt x="63500" y="0"/>
                  </a:moveTo>
                  <a:lnTo>
                    <a:pt x="317500" y="0"/>
                  </a:lnTo>
                  <a:cubicBezTo>
                    <a:pt x="352570" y="0"/>
                    <a:pt x="381000" y="28430"/>
                    <a:pt x="381000" y="63500"/>
                  </a:cubicBezTo>
                  <a:cubicBezTo>
                    <a:pt x="381000" y="98570"/>
                    <a:pt x="352570" y="127000"/>
                    <a:pt x="3175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B53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81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04875" y="9715500"/>
            <a:ext cx="2333625" cy="0"/>
          </a:xfrm>
          <a:prstGeom prst="line">
            <a:avLst/>
          </a:prstGeom>
          <a:ln w="57150" cap="flat">
            <a:solidFill>
              <a:srgbClr val="FDD4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2999675" y="9734945"/>
            <a:ext cx="1143000" cy="0"/>
          </a:xfrm>
          <a:prstGeom prst="line">
            <a:avLst/>
          </a:prstGeom>
          <a:ln w="57150" cap="flat">
            <a:solidFill>
              <a:srgbClr val="EB53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7810500" y="1333500"/>
            <a:ext cx="1892011" cy="466725"/>
            <a:chOff x="0" y="0"/>
            <a:chExt cx="2413000" cy="5952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13000" cy="595243"/>
            </a:xfrm>
            <a:custGeom>
              <a:avLst/>
              <a:gdLst/>
              <a:ahLst/>
              <a:cxnLst/>
              <a:rect l="l" t="t" r="r" b="b"/>
              <a:pathLst>
                <a:path w="2413000" h="595243">
                  <a:moveTo>
                    <a:pt x="0" y="0"/>
                  </a:moveTo>
                  <a:lnTo>
                    <a:pt x="2413000" y="0"/>
                  </a:lnTo>
                  <a:lnTo>
                    <a:pt x="2413000" y="595243"/>
                  </a:lnTo>
                  <a:lnTo>
                    <a:pt x="0" y="595243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13000" cy="633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10500" y="1419225"/>
            <a:ext cx="1809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810500" y="2952750"/>
            <a:ext cx="1809750" cy="419100"/>
            <a:chOff x="0" y="0"/>
            <a:chExt cx="2413000" cy="55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13000" cy="558800"/>
            </a:xfrm>
            <a:custGeom>
              <a:avLst/>
              <a:gdLst/>
              <a:ahLst/>
              <a:cxnLst/>
              <a:rect l="l" t="t" r="r" b="b"/>
              <a:pathLst>
                <a:path w="2413000" h="558800">
                  <a:moveTo>
                    <a:pt x="0" y="0"/>
                  </a:moveTo>
                  <a:lnTo>
                    <a:pt x="2413000" y="0"/>
                  </a:lnTo>
                  <a:lnTo>
                    <a:pt x="2413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13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10500" y="3028950"/>
            <a:ext cx="1809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JOB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382750" y="2952750"/>
            <a:ext cx="1809750" cy="419100"/>
            <a:chOff x="0" y="0"/>
            <a:chExt cx="2413000" cy="55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13000" cy="558800"/>
            </a:xfrm>
            <a:custGeom>
              <a:avLst/>
              <a:gdLst/>
              <a:ahLst/>
              <a:cxnLst/>
              <a:rect l="l" t="t" r="r" b="b"/>
              <a:pathLst>
                <a:path w="2413000" h="558800">
                  <a:moveTo>
                    <a:pt x="0" y="0"/>
                  </a:moveTo>
                  <a:lnTo>
                    <a:pt x="2413000" y="0"/>
                  </a:lnTo>
                  <a:lnTo>
                    <a:pt x="2413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13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382750" y="3028950"/>
            <a:ext cx="1809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RECRUITER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619250" y="5143500"/>
            <a:ext cx="1809750" cy="419100"/>
            <a:chOff x="0" y="0"/>
            <a:chExt cx="2413000" cy="558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13000" cy="558800"/>
            </a:xfrm>
            <a:custGeom>
              <a:avLst/>
              <a:gdLst/>
              <a:ahLst/>
              <a:cxnLst/>
              <a:rect l="l" t="t" r="r" b="b"/>
              <a:pathLst>
                <a:path w="2413000" h="558800">
                  <a:moveTo>
                    <a:pt x="0" y="0"/>
                  </a:moveTo>
                  <a:lnTo>
                    <a:pt x="2413000" y="0"/>
                  </a:lnTo>
                  <a:lnTo>
                    <a:pt x="2413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13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19250" y="5219700"/>
            <a:ext cx="1809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079278" y="5129561"/>
            <a:ext cx="2000250" cy="457200"/>
            <a:chOff x="0" y="0"/>
            <a:chExt cx="2667000" cy="609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67000" cy="609600"/>
            </a:xfrm>
            <a:custGeom>
              <a:avLst/>
              <a:gdLst/>
              <a:ahLst/>
              <a:cxnLst/>
              <a:rect l="l" t="t" r="r" b="b"/>
              <a:pathLst>
                <a:path w="2667000" h="609600">
                  <a:moveTo>
                    <a:pt x="0" y="0"/>
                  </a:moveTo>
                  <a:lnTo>
                    <a:pt x="2667000" y="0"/>
                  </a:lnTo>
                  <a:lnTo>
                    <a:pt x="2667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6670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810500" y="5219700"/>
            <a:ext cx="2000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952425" y="8115695"/>
            <a:ext cx="1809750" cy="419100"/>
            <a:chOff x="0" y="0"/>
            <a:chExt cx="2413000" cy="558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13000" cy="558800"/>
            </a:xfrm>
            <a:custGeom>
              <a:avLst/>
              <a:gdLst/>
              <a:ahLst/>
              <a:cxnLst/>
              <a:rect l="l" t="t" r="r" b="b"/>
              <a:pathLst>
                <a:path w="2413000" h="558800">
                  <a:moveTo>
                    <a:pt x="0" y="0"/>
                  </a:moveTo>
                  <a:lnTo>
                    <a:pt x="2413000" y="0"/>
                  </a:lnTo>
                  <a:lnTo>
                    <a:pt x="2413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413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52425" y="8191895"/>
            <a:ext cx="1809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668000" y="8096250"/>
            <a:ext cx="1809750" cy="419100"/>
            <a:chOff x="0" y="0"/>
            <a:chExt cx="2413000" cy="558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413000" cy="558800"/>
            </a:xfrm>
            <a:custGeom>
              <a:avLst/>
              <a:gdLst/>
              <a:ahLst/>
              <a:cxnLst/>
              <a:rect l="l" t="t" r="r" b="b"/>
              <a:pathLst>
                <a:path w="2413000" h="558800">
                  <a:moveTo>
                    <a:pt x="0" y="0"/>
                  </a:moveTo>
                  <a:lnTo>
                    <a:pt x="2413000" y="0"/>
                  </a:lnTo>
                  <a:lnTo>
                    <a:pt x="2413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4536F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413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668000" y="8172450"/>
            <a:ext cx="1809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181975" y="2152650"/>
            <a:ext cx="1066800" cy="552450"/>
            <a:chOff x="0" y="0"/>
            <a:chExt cx="1422400" cy="7366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22400" cy="736600"/>
            </a:xfrm>
            <a:custGeom>
              <a:avLst/>
              <a:gdLst/>
              <a:ahLst/>
              <a:cxnLst/>
              <a:rect l="l" t="t" r="r" b="b"/>
              <a:pathLst>
                <a:path w="1422400" h="736600">
                  <a:moveTo>
                    <a:pt x="711200" y="0"/>
                  </a:moveTo>
                  <a:lnTo>
                    <a:pt x="1422400" y="368300"/>
                  </a:lnTo>
                  <a:lnTo>
                    <a:pt x="711200" y="7366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7D9CF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422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201025" y="2305050"/>
            <a:ext cx="9525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HAS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715750" y="2905125"/>
            <a:ext cx="1066800" cy="552450"/>
            <a:chOff x="0" y="0"/>
            <a:chExt cx="1422400" cy="736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22400" cy="736600"/>
            </a:xfrm>
            <a:custGeom>
              <a:avLst/>
              <a:gdLst/>
              <a:ahLst/>
              <a:cxnLst/>
              <a:rect l="l" t="t" r="r" b="b"/>
              <a:pathLst>
                <a:path w="1422400" h="736600">
                  <a:moveTo>
                    <a:pt x="711200" y="0"/>
                  </a:moveTo>
                  <a:lnTo>
                    <a:pt x="1422400" y="368300"/>
                  </a:lnTo>
                  <a:lnTo>
                    <a:pt x="711200" y="7366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7D9CF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422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763375" y="3086100"/>
            <a:ext cx="9525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MANAGES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4762500" y="5095875"/>
            <a:ext cx="1066800" cy="552450"/>
            <a:chOff x="0" y="0"/>
            <a:chExt cx="1422400" cy="736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22400" cy="736600"/>
            </a:xfrm>
            <a:custGeom>
              <a:avLst/>
              <a:gdLst/>
              <a:ahLst/>
              <a:cxnLst/>
              <a:rect l="l" t="t" r="r" b="b"/>
              <a:pathLst>
                <a:path w="1422400" h="736600">
                  <a:moveTo>
                    <a:pt x="711200" y="0"/>
                  </a:moveTo>
                  <a:lnTo>
                    <a:pt x="1422400" y="368300"/>
                  </a:lnTo>
                  <a:lnTo>
                    <a:pt x="711200" y="7366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7D9CF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422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819650" y="5257800"/>
            <a:ext cx="9525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SUBMITS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7059411" y="6980890"/>
            <a:ext cx="1066800" cy="552450"/>
            <a:chOff x="0" y="0"/>
            <a:chExt cx="1422400" cy="7366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22400" cy="736600"/>
            </a:xfrm>
            <a:custGeom>
              <a:avLst/>
              <a:gdLst/>
              <a:ahLst/>
              <a:cxnLst/>
              <a:rect l="l" t="t" r="r" b="b"/>
              <a:pathLst>
                <a:path w="1422400" h="736600">
                  <a:moveTo>
                    <a:pt x="711200" y="0"/>
                  </a:moveTo>
                  <a:lnTo>
                    <a:pt x="1422400" y="368300"/>
                  </a:lnTo>
                  <a:lnTo>
                    <a:pt x="711200" y="7366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7D9CF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422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7095425" y="7148096"/>
            <a:ext cx="952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HAS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667875" y="7000875"/>
            <a:ext cx="1271588" cy="552450"/>
            <a:chOff x="0" y="0"/>
            <a:chExt cx="1695450" cy="736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695450" cy="736600"/>
            </a:xfrm>
            <a:custGeom>
              <a:avLst/>
              <a:gdLst/>
              <a:ahLst/>
              <a:cxnLst/>
              <a:rect l="l" t="t" r="r" b="b"/>
              <a:pathLst>
                <a:path w="1695450" h="736600">
                  <a:moveTo>
                    <a:pt x="847725" y="0"/>
                  </a:moveTo>
                  <a:lnTo>
                    <a:pt x="1695450" y="368300"/>
                  </a:lnTo>
                  <a:lnTo>
                    <a:pt x="847725" y="7366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7D9CF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69545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9810750" y="7148096"/>
            <a:ext cx="952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RESULTS IN</a:t>
            </a:r>
          </a:p>
        </p:txBody>
      </p:sp>
      <p:sp>
        <p:nvSpPr>
          <p:cNvPr id="60" name="AutoShape 60"/>
          <p:cNvSpPr/>
          <p:nvPr/>
        </p:nvSpPr>
        <p:spPr>
          <a:xfrm>
            <a:off x="8715375" y="1752600"/>
            <a:ext cx="0" cy="42750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>
            <a:off x="8715375" y="2695575"/>
            <a:ext cx="0" cy="25717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 flipH="1">
            <a:off x="12725400" y="3162300"/>
            <a:ext cx="1657350" cy="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>
            <a:off x="3429000" y="5353050"/>
            <a:ext cx="1333500" cy="1905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 flipV="1">
            <a:off x="5829300" y="5358161"/>
            <a:ext cx="2249978" cy="13939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AutoShape 65"/>
          <p:cNvSpPr/>
          <p:nvPr/>
        </p:nvSpPr>
        <p:spPr>
          <a:xfrm flipH="1">
            <a:off x="7592811" y="5586761"/>
            <a:ext cx="886517" cy="1394129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 flipH="1">
            <a:off x="6688003" y="7533340"/>
            <a:ext cx="904808" cy="58235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>
            <a:off x="9854582" y="5586761"/>
            <a:ext cx="449087" cy="1414114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AutoShape 68"/>
          <p:cNvSpPr/>
          <p:nvPr/>
        </p:nvSpPr>
        <p:spPr>
          <a:xfrm>
            <a:off x="10258067" y="7525402"/>
            <a:ext cx="1314808" cy="570848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9" name="TextBox 69"/>
          <p:cNvSpPr txBox="1"/>
          <p:nvPr/>
        </p:nvSpPr>
        <p:spPr>
          <a:xfrm>
            <a:off x="8381300" y="188531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82000" y="2724150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239750" y="297116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415588" y="2971165"/>
            <a:ext cx="523875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095750" y="519112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191250" y="519112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658100" y="6129686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689224" y="760001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25000" y="654367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850490" y="7591425"/>
            <a:ext cx="523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EB534B"/>
                </a:solidFill>
                <a:latin typeface="DM Sans Bold"/>
                <a:ea typeface="DM Sans Bold"/>
                <a:cs typeface="DM Sans Bold"/>
                <a:sym typeface="DM Sans Bold"/>
              </a:rPr>
              <a:t>0..1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5595938" y="1028700"/>
            <a:ext cx="1381125" cy="323850"/>
            <a:chOff x="0" y="0"/>
            <a:chExt cx="1841500" cy="431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841500" cy="431800"/>
            </a:xfrm>
            <a:custGeom>
              <a:avLst/>
              <a:gdLst/>
              <a:ahLst/>
              <a:cxnLst/>
              <a:rect l="l" t="t" r="r" b="b"/>
              <a:pathLst>
                <a:path w="1841500" h="431800">
                  <a:moveTo>
                    <a:pt x="0" y="215900"/>
                  </a:moveTo>
                  <a:cubicBezTo>
                    <a:pt x="0" y="335138"/>
                    <a:pt x="412234" y="431800"/>
                    <a:pt x="920750" y="431800"/>
                  </a:cubicBezTo>
                  <a:cubicBezTo>
                    <a:pt x="1429266" y="431800"/>
                    <a:pt x="1841500" y="335138"/>
                    <a:pt x="1841500" y="215900"/>
                  </a:cubicBezTo>
                  <a:cubicBezTo>
                    <a:pt x="1841500" y="96662"/>
                    <a:pt x="1429266" y="0"/>
                    <a:pt x="920750" y="0"/>
                  </a:cubicBezTo>
                  <a:cubicBezTo>
                    <a:pt x="41223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841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5595938" y="1108075"/>
            <a:ext cx="1285875" cy="15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department_id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0772775" y="1073150"/>
            <a:ext cx="1476375" cy="323850"/>
            <a:chOff x="0" y="0"/>
            <a:chExt cx="1968500" cy="431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68500" cy="431800"/>
            </a:xfrm>
            <a:custGeom>
              <a:avLst/>
              <a:gdLst/>
              <a:ahLst/>
              <a:cxnLst/>
              <a:rect l="l" t="t" r="r" b="b"/>
              <a:pathLst>
                <a:path w="1968500" h="431800">
                  <a:moveTo>
                    <a:pt x="0" y="215900"/>
                  </a:moveTo>
                  <a:cubicBezTo>
                    <a:pt x="0" y="335138"/>
                    <a:pt x="440664" y="431800"/>
                    <a:pt x="984250" y="431800"/>
                  </a:cubicBezTo>
                  <a:cubicBezTo>
                    <a:pt x="1527836" y="431800"/>
                    <a:pt x="1968500" y="335138"/>
                    <a:pt x="1968500" y="215900"/>
                  </a:cubicBezTo>
                  <a:cubicBezTo>
                    <a:pt x="1968500" y="96662"/>
                    <a:pt x="1527836" y="0"/>
                    <a:pt x="984250" y="0"/>
                  </a:cubicBezTo>
                  <a:cubicBezTo>
                    <a:pt x="44066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1968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0820400" y="1146175"/>
            <a:ext cx="1381125" cy="15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department_name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9501187" y="2105025"/>
            <a:ext cx="1479176" cy="419100"/>
            <a:chOff x="0" y="0"/>
            <a:chExt cx="1524000" cy="431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524000" cy="431800"/>
            </a:xfrm>
            <a:custGeom>
              <a:avLst/>
              <a:gdLst/>
              <a:ahLst/>
              <a:cxnLst/>
              <a:rect l="l" t="t" r="r" b="b"/>
              <a:pathLst>
                <a:path w="1524000" h="431800">
                  <a:moveTo>
                    <a:pt x="0" y="215900"/>
                  </a:moveTo>
                  <a:cubicBezTo>
                    <a:pt x="0" y="335138"/>
                    <a:pt x="341159" y="431800"/>
                    <a:pt x="762000" y="431800"/>
                  </a:cubicBezTo>
                  <a:cubicBezTo>
                    <a:pt x="1182841" y="431800"/>
                    <a:pt x="1524000" y="335138"/>
                    <a:pt x="1524000" y="215900"/>
                  </a:cubicBezTo>
                  <a:cubicBezTo>
                    <a:pt x="1524000" y="96662"/>
                    <a:pt x="1182841" y="0"/>
                    <a:pt x="762000" y="0"/>
                  </a:cubicBezTo>
                  <a:cubicBezTo>
                    <a:pt x="34115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1524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9644062" y="2190750"/>
            <a:ext cx="104775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job_id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6453188" y="2152650"/>
            <a:ext cx="1426661" cy="388052"/>
            <a:chOff x="0" y="0"/>
            <a:chExt cx="1587500" cy="431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587500" cy="431800"/>
            </a:xfrm>
            <a:custGeom>
              <a:avLst/>
              <a:gdLst/>
              <a:ahLst/>
              <a:cxnLst/>
              <a:rect l="l" t="t" r="r" b="b"/>
              <a:pathLst>
                <a:path w="1587500" h="431800">
                  <a:moveTo>
                    <a:pt x="0" y="215900"/>
                  </a:moveTo>
                  <a:cubicBezTo>
                    <a:pt x="0" y="335138"/>
                    <a:pt x="355374" y="431800"/>
                    <a:pt x="793750" y="431800"/>
                  </a:cubicBezTo>
                  <a:cubicBezTo>
                    <a:pt x="1232126" y="431800"/>
                    <a:pt x="1587500" y="335138"/>
                    <a:pt x="1587500" y="215900"/>
                  </a:cubicBezTo>
                  <a:cubicBezTo>
                    <a:pt x="1587500" y="96662"/>
                    <a:pt x="1232126" y="0"/>
                    <a:pt x="793750" y="0"/>
                  </a:cubicBezTo>
                  <a:cubicBezTo>
                    <a:pt x="35537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1587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6618831" y="2234168"/>
            <a:ext cx="109537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job_title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9867900" y="3468846"/>
            <a:ext cx="1381125" cy="391319"/>
            <a:chOff x="0" y="0"/>
            <a:chExt cx="1524000" cy="431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524000" cy="431800"/>
            </a:xfrm>
            <a:custGeom>
              <a:avLst/>
              <a:gdLst/>
              <a:ahLst/>
              <a:cxnLst/>
              <a:rect l="l" t="t" r="r" b="b"/>
              <a:pathLst>
                <a:path w="1524000" h="431800">
                  <a:moveTo>
                    <a:pt x="0" y="215900"/>
                  </a:moveTo>
                  <a:cubicBezTo>
                    <a:pt x="0" y="335138"/>
                    <a:pt x="341159" y="431800"/>
                    <a:pt x="762000" y="431800"/>
                  </a:cubicBezTo>
                  <a:cubicBezTo>
                    <a:pt x="1182841" y="431800"/>
                    <a:pt x="1524000" y="335138"/>
                    <a:pt x="1524000" y="215900"/>
                  </a:cubicBezTo>
                  <a:cubicBezTo>
                    <a:pt x="1524000" y="96662"/>
                    <a:pt x="1182841" y="0"/>
                    <a:pt x="762000" y="0"/>
                  </a:cubicBezTo>
                  <a:cubicBezTo>
                    <a:pt x="34115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1524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10048875" y="3509645"/>
            <a:ext cx="104775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openings</a:t>
            </a:r>
          </a:p>
        </p:txBody>
      </p:sp>
      <p:grpSp>
        <p:nvGrpSpPr>
          <p:cNvPr id="99" name="Group 99"/>
          <p:cNvGrpSpPr/>
          <p:nvPr/>
        </p:nvGrpSpPr>
        <p:grpSpPr>
          <a:xfrm>
            <a:off x="5958394" y="3714750"/>
            <a:ext cx="1254705" cy="352425"/>
            <a:chOff x="0" y="0"/>
            <a:chExt cx="1672940" cy="4699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672940" cy="469900"/>
            </a:xfrm>
            <a:custGeom>
              <a:avLst/>
              <a:gdLst/>
              <a:ahLst/>
              <a:cxnLst/>
              <a:rect l="l" t="t" r="r" b="b"/>
              <a:pathLst>
                <a:path w="1672940" h="469900">
                  <a:moveTo>
                    <a:pt x="0" y="234950"/>
                  </a:moveTo>
                  <a:cubicBezTo>
                    <a:pt x="0" y="364709"/>
                    <a:pt x="374500" y="469900"/>
                    <a:pt x="836470" y="469900"/>
                  </a:cubicBezTo>
                  <a:cubicBezTo>
                    <a:pt x="1298440" y="469900"/>
                    <a:pt x="1672940" y="364709"/>
                    <a:pt x="1672940" y="234950"/>
                  </a:cubicBezTo>
                  <a:cubicBezTo>
                    <a:pt x="1672940" y="105191"/>
                    <a:pt x="1298440" y="0"/>
                    <a:pt x="836470" y="0"/>
                  </a:cubicBezTo>
                  <a:cubicBezTo>
                    <a:pt x="374500" y="0"/>
                    <a:pt x="0" y="105191"/>
                    <a:pt x="0" y="23495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167294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6109497" y="3717290"/>
            <a:ext cx="9525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salary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7905750" y="3905250"/>
            <a:ext cx="1595438" cy="323850"/>
            <a:chOff x="0" y="0"/>
            <a:chExt cx="2127250" cy="4318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127250" cy="431800"/>
            </a:xfrm>
            <a:custGeom>
              <a:avLst/>
              <a:gdLst/>
              <a:ahLst/>
              <a:cxnLst/>
              <a:rect l="l" t="t" r="r" b="b"/>
              <a:pathLst>
                <a:path w="2127250" h="431800">
                  <a:moveTo>
                    <a:pt x="0" y="215900"/>
                  </a:moveTo>
                  <a:cubicBezTo>
                    <a:pt x="0" y="335138"/>
                    <a:pt x="476201" y="431800"/>
                    <a:pt x="1063625" y="431800"/>
                  </a:cubicBezTo>
                  <a:cubicBezTo>
                    <a:pt x="1651049" y="431800"/>
                    <a:pt x="2127250" y="335138"/>
                    <a:pt x="2127250" y="215900"/>
                  </a:cubicBezTo>
                  <a:cubicBezTo>
                    <a:pt x="2127250" y="96662"/>
                    <a:pt x="1651049" y="0"/>
                    <a:pt x="1063625" y="0"/>
                  </a:cubicBezTo>
                  <a:cubicBezTo>
                    <a:pt x="476201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212725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8105775" y="3971925"/>
            <a:ext cx="11430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job_status</a:t>
            </a:r>
          </a:p>
        </p:txBody>
      </p:sp>
      <p:grpSp>
        <p:nvGrpSpPr>
          <p:cNvPr id="107" name="Group 107"/>
          <p:cNvGrpSpPr/>
          <p:nvPr/>
        </p:nvGrpSpPr>
        <p:grpSpPr>
          <a:xfrm>
            <a:off x="13477875" y="2314575"/>
            <a:ext cx="1809750" cy="342900"/>
            <a:chOff x="0" y="0"/>
            <a:chExt cx="2077861" cy="3937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077861" cy="393700"/>
            </a:xfrm>
            <a:custGeom>
              <a:avLst/>
              <a:gdLst/>
              <a:ahLst/>
              <a:cxnLst/>
              <a:rect l="l" t="t" r="r" b="b"/>
              <a:pathLst>
                <a:path w="2077861" h="393700">
                  <a:moveTo>
                    <a:pt x="0" y="196850"/>
                  </a:moveTo>
                  <a:cubicBezTo>
                    <a:pt x="0" y="305567"/>
                    <a:pt x="465145" y="393700"/>
                    <a:pt x="1038931" y="393700"/>
                  </a:cubicBezTo>
                  <a:cubicBezTo>
                    <a:pt x="1612716" y="393700"/>
                    <a:pt x="2077861" y="305567"/>
                    <a:pt x="2077861" y="196850"/>
                  </a:cubicBezTo>
                  <a:cubicBezTo>
                    <a:pt x="2077861" y="88133"/>
                    <a:pt x="1612716" y="0"/>
                    <a:pt x="1038931" y="0"/>
                  </a:cubicBezTo>
                  <a:cubicBezTo>
                    <a:pt x="465145" y="0"/>
                    <a:pt x="0" y="88133"/>
                    <a:pt x="0" y="19685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2077861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4097000" y="3667125"/>
            <a:ext cx="1714500" cy="376084"/>
            <a:chOff x="0" y="0"/>
            <a:chExt cx="1968500" cy="4318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968500" cy="431800"/>
            </a:xfrm>
            <a:custGeom>
              <a:avLst/>
              <a:gdLst/>
              <a:ahLst/>
              <a:cxnLst/>
              <a:rect l="l" t="t" r="r" b="b"/>
              <a:pathLst>
                <a:path w="1968500" h="431800">
                  <a:moveTo>
                    <a:pt x="0" y="215900"/>
                  </a:moveTo>
                  <a:cubicBezTo>
                    <a:pt x="0" y="335138"/>
                    <a:pt x="440664" y="431800"/>
                    <a:pt x="984250" y="431800"/>
                  </a:cubicBezTo>
                  <a:cubicBezTo>
                    <a:pt x="1527836" y="431800"/>
                    <a:pt x="1968500" y="335138"/>
                    <a:pt x="1968500" y="215900"/>
                  </a:cubicBezTo>
                  <a:cubicBezTo>
                    <a:pt x="1968500" y="96662"/>
                    <a:pt x="1527836" y="0"/>
                    <a:pt x="984250" y="0"/>
                  </a:cubicBezTo>
                  <a:cubicBezTo>
                    <a:pt x="44066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1968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6306800" y="2386330"/>
            <a:ext cx="952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email</a:t>
            </a:r>
          </a:p>
        </p:txBody>
      </p:sp>
      <p:grpSp>
        <p:nvGrpSpPr>
          <p:cNvPr id="114" name="Group 114"/>
          <p:cNvGrpSpPr/>
          <p:nvPr/>
        </p:nvGrpSpPr>
        <p:grpSpPr>
          <a:xfrm>
            <a:off x="16118758" y="3667125"/>
            <a:ext cx="1216742" cy="376084"/>
            <a:chOff x="0" y="0"/>
            <a:chExt cx="1397000" cy="4318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397000" cy="431800"/>
            </a:xfrm>
            <a:custGeom>
              <a:avLst/>
              <a:gdLst/>
              <a:ahLst/>
              <a:cxnLst/>
              <a:rect l="l" t="t" r="r" b="b"/>
              <a:pathLst>
                <a:path w="1397000" h="431800">
                  <a:moveTo>
                    <a:pt x="0" y="215900"/>
                  </a:moveTo>
                  <a:cubicBezTo>
                    <a:pt x="0" y="335138"/>
                    <a:pt x="312729" y="431800"/>
                    <a:pt x="698500" y="431800"/>
                  </a:cubicBezTo>
                  <a:cubicBezTo>
                    <a:pt x="1084271" y="431800"/>
                    <a:pt x="1397000" y="335138"/>
                    <a:pt x="1397000" y="215900"/>
                  </a:cubicBezTo>
                  <a:cubicBezTo>
                    <a:pt x="1397000" y="96662"/>
                    <a:pt x="1084271" y="0"/>
                    <a:pt x="698500" y="0"/>
                  </a:cubicBezTo>
                  <a:cubicBezTo>
                    <a:pt x="31272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0" y="-38100"/>
              <a:ext cx="1397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4478000" y="3735070"/>
            <a:ext cx="952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phone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440951" y="4429125"/>
            <a:ext cx="1568824" cy="428625"/>
            <a:chOff x="0" y="0"/>
            <a:chExt cx="1778000" cy="485775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778000" cy="485775"/>
            </a:xfrm>
            <a:custGeom>
              <a:avLst/>
              <a:gdLst/>
              <a:ahLst/>
              <a:cxnLst/>
              <a:rect l="l" t="t" r="r" b="b"/>
              <a:pathLst>
                <a:path w="1778000" h="485775">
                  <a:moveTo>
                    <a:pt x="0" y="242888"/>
                  </a:moveTo>
                  <a:cubicBezTo>
                    <a:pt x="0" y="377031"/>
                    <a:pt x="398019" y="485775"/>
                    <a:pt x="889000" y="485775"/>
                  </a:cubicBezTo>
                  <a:cubicBezTo>
                    <a:pt x="1379981" y="485775"/>
                    <a:pt x="1778000" y="377031"/>
                    <a:pt x="1778000" y="242888"/>
                  </a:cubicBezTo>
                  <a:cubicBezTo>
                    <a:pt x="1778000" y="108744"/>
                    <a:pt x="1379981" y="0"/>
                    <a:pt x="889000" y="0"/>
                  </a:cubicBezTo>
                  <a:cubicBezTo>
                    <a:pt x="398019" y="0"/>
                    <a:pt x="0" y="108744"/>
                    <a:pt x="0" y="242888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1778000" cy="523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571500" y="4543425"/>
            <a:ext cx="14382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applicant_id (PK)</a:t>
            </a:r>
          </a:p>
        </p:txBody>
      </p:sp>
      <p:grpSp>
        <p:nvGrpSpPr>
          <p:cNvPr id="122" name="Group 122"/>
          <p:cNvGrpSpPr/>
          <p:nvPr/>
        </p:nvGrpSpPr>
        <p:grpSpPr>
          <a:xfrm>
            <a:off x="2452688" y="4315460"/>
            <a:ext cx="1762125" cy="399415"/>
            <a:chOff x="0" y="0"/>
            <a:chExt cx="1905000" cy="4318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905000" cy="431800"/>
            </a:xfrm>
            <a:custGeom>
              <a:avLst/>
              <a:gdLst/>
              <a:ahLst/>
              <a:cxnLst/>
              <a:rect l="l" t="t" r="r" b="b"/>
              <a:pathLst>
                <a:path w="1905000" h="431800">
                  <a:moveTo>
                    <a:pt x="0" y="215900"/>
                  </a:moveTo>
                  <a:cubicBezTo>
                    <a:pt x="0" y="335138"/>
                    <a:pt x="426449" y="431800"/>
                    <a:pt x="952500" y="431800"/>
                  </a:cubicBezTo>
                  <a:cubicBezTo>
                    <a:pt x="1478551" y="431800"/>
                    <a:pt x="1905000" y="335138"/>
                    <a:pt x="1905000" y="215900"/>
                  </a:cubicBezTo>
                  <a:cubicBezTo>
                    <a:pt x="1905000" y="96662"/>
                    <a:pt x="1478551" y="0"/>
                    <a:pt x="952500" y="0"/>
                  </a:cubicBezTo>
                  <a:cubicBezTo>
                    <a:pt x="42644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1905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5" name="TextBox 125"/>
          <p:cNvSpPr txBox="1"/>
          <p:nvPr/>
        </p:nvSpPr>
        <p:spPr>
          <a:xfrm>
            <a:off x="2571750" y="4366895"/>
            <a:ext cx="1333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applicant_name</a:t>
            </a:r>
          </a:p>
        </p:txBody>
      </p:sp>
      <p:grpSp>
        <p:nvGrpSpPr>
          <p:cNvPr id="126" name="Group 126"/>
          <p:cNvGrpSpPr/>
          <p:nvPr/>
        </p:nvGrpSpPr>
        <p:grpSpPr>
          <a:xfrm>
            <a:off x="0" y="5713990"/>
            <a:ext cx="1315571" cy="406631"/>
            <a:chOff x="0" y="0"/>
            <a:chExt cx="1397000" cy="43180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397000" cy="431800"/>
            </a:xfrm>
            <a:custGeom>
              <a:avLst/>
              <a:gdLst/>
              <a:ahLst/>
              <a:cxnLst/>
              <a:rect l="l" t="t" r="r" b="b"/>
              <a:pathLst>
                <a:path w="1397000" h="431800">
                  <a:moveTo>
                    <a:pt x="0" y="215900"/>
                  </a:moveTo>
                  <a:cubicBezTo>
                    <a:pt x="0" y="335138"/>
                    <a:pt x="312729" y="431800"/>
                    <a:pt x="698500" y="431800"/>
                  </a:cubicBezTo>
                  <a:cubicBezTo>
                    <a:pt x="1084271" y="431800"/>
                    <a:pt x="1397000" y="335138"/>
                    <a:pt x="1397000" y="215900"/>
                  </a:cubicBezTo>
                  <a:cubicBezTo>
                    <a:pt x="1397000" y="96662"/>
                    <a:pt x="1084271" y="0"/>
                    <a:pt x="698500" y="0"/>
                  </a:cubicBezTo>
                  <a:cubicBezTo>
                    <a:pt x="31272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0" y="-38100"/>
              <a:ext cx="1397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30549" y="5780665"/>
            <a:ext cx="9525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email</a:t>
            </a:r>
          </a:p>
        </p:txBody>
      </p:sp>
      <p:grpSp>
        <p:nvGrpSpPr>
          <p:cNvPr id="130" name="Group 130"/>
          <p:cNvGrpSpPr/>
          <p:nvPr/>
        </p:nvGrpSpPr>
        <p:grpSpPr>
          <a:xfrm>
            <a:off x="1028700" y="6430264"/>
            <a:ext cx="1540809" cy="476250"/>
            <a:chOff x="0" y="0"/>
            <a:chExt cx="1397000" cy="4318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397000" cy="431800"/>
            </a:xfrm>
            <a:custGeom>
              <a:avLst/>
              <a:gdLst/>
              <a:ahLst/>
              <a:cxnLst/>
              <a:rect l="l" t="t" r="r" b="b"/>
              <a:pathLst>
                <a:path w="1397000" h="431800">
                  <a:moveTo>
                    <a:pt x="0" y="215900"/>
                  </a:moveTo>
                  <a:cubicBezTo>
                    <a:pt x="0" y="335138"/>
                    <a:pt x="312729" y="431800"/>
                    <a:pt x="698500" y="431800"/>
                  </a:cubicBezTo>
                  <a:cubicBezTo>
                    <a:pt x="1084271" y="431800"/>
                    <a:pt x="1397000" y="335138"/>
                    <a:pt x="1397000" y="215900"/>
                  </a:cubicBezTo>
                  <a:cubicBezTo>
                    <a:pt x="1397000" y="96662"/>
                    <a:pt x="1084271" y="0"/>
                    <a:pt x="698500" y="0"/>
                  </a:cubicBezTo>
                  <a:cubicBezTo>
                    <a:pt x="31272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1397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3" name="TextBox 133"/>
          <p:cNvSpPr txBox="1"/>
          <p:nvPr/>
        </p:nvSpPr>
        <p:spPr>
          <a:xfrm>
            <a:off x="1331259" y="6496939"/>
            <a:ext cx="952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phone</a:t>
            </a:r>
          </a:p>
        </p:txBody>
      </p:sp>
      <p:grpSp>
        <p:nvGrpSpPr>
          <p:cNvPr id="134" name="Group 134"/>
          <p:cNvGrpSpPr/>
          <p:nvPr/>
        </p:nvGrpSpPr>
        <p:grpSpPr>
          <a:xfrm>
            <a:off x="2843313" y="6525514"/>
            <a:ext cx="1600200" cy="375219"/>
            <a:chOff x="0" y="0"/>
            <a:chExt cx="1841500" cy="4318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841500" cy="431800"/>
            </a:xfrm>
            <a:custGeom>
              <a:avLst/>
              <a:gdLst/>
              <a:ahLst/>
              <a:cxnLst/>
              <a:rect l="l" t="t" r="r" b="b"/>
              <a:pathLst>
                <a:path w="1841500" h="431800">
                  <a:moveTo>
                    <a:pt x="0" y="215900"/>
                  </a:moveTo>
                  <a:cubicBezTo>
                    <a:pt x="0" y="335138"/>
                    <a:pt x="412234" y="431800"/>
                    <a:pt x="920750" y="431800"/>
                  </a:cubicBezTo>
                  <a:cubicBezTo>
                    <a:pt x="1429266" y="431800"/>
                    <a:pt x="1841500" y="335138"/>
                    <a:pt x="1841500" y="215900"/>
                  </a:cubicBezTo>
                  <a:cubicBezTo>
                    <a:pt x="1841500" y="96662"/>
                    <a:pt x="1429266" y="0"/>
                    <a:pt x="920750" y="0"/>
                  </a:cubicBezTo>
                  <a:cubicBezTo>
                    <a:pt x="41223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1841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7" name="TextBox 137"/>
          <p:cNvSpPr txBox="1"/>
          <p:nvPr/>
        </p:nvSpPr>
        <p:spPr>
          <a:xfrm>
            <a:off x="2928938" y="6586759"/>
            <a:ext cx="12858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qualification</a:t>
            </a:r>
          </a:p>
        </p:txBody>
      </p:sp>
      <p:grpSp>
        <p:nvGrpSpPr>
          <p:cNvPr id="138" name="Group 138"/>
          <p:cNvGrpSpPr/>
          <p:nvPr/>
        </p:nvGrpSpPr>
        <p:grpSpPr>
          <a:xfrm>
            <a:off x="3779861" y="6037305"/>
            <a:ext cx="2079578" cy="422071"/>
            <a:chOff x="0" y="0"/>
            <a:chExt cx="2095500" cy="425303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2095500" cy="425303"/>
            </a:xfrm>
            <a:custGeom>
              <a:avLst/>
              <a:gdLst/>
              <a:ahLst/>
              <a:cxnLst/>
              <a:rect l="l" t="t" r="r" b="b"/>
              <a:pathLst>
                <a:path w="2095500" h="425303">
                  <a:moveTo>
                    <a:pt x="0" y="212651"/>
                  </a:moveTo>
                  <a:cubicBezTo>
                    <a:pt x="0" y="330096"/>
                    <a:pt x="469094" y="425303"/>
                    <a:pt x="1047750" y="425303"/>
                  </a:cubicBezTo>
                  <a:cubicBezTo>
                    <a:pt x="1626406" y="425303"/>
                    <a:pt x="2095500" y="330096"/>
                    <a:pt x="2095500" y="212651"/>
                  </a:cubicBezTo>
                  <a:cubicBezTo>
                    <a:pt x="2095500" y="95207"/>
                    <a:pt x="1626406" y="0"/>
                    <a:pt x="1047750" y="0"/>
                  </a:cubicBezTo>
                  <a:cubicBezTo>
                    <a:pt x="469094" y="0"/>
                    <a:pt x="0" y="95207"/>
                    <a:pt x="0" y="212651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0" y="-38100"/>
              <a:ext cx="2095500" cy="463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3739100" y="6132663"/>
            <a:ext cx="1953543" cy="21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2"/>
              </a:lnSpc>
            </a:pPr>
            <a:r>
              <a:rPr lang="en-US" sz="1323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experience_years</a:t>
            </a:r>
          </a:p>
        </p:txBody>
      </p:sp>
      <p:grpSp>
        <p:nvGrpSpPr>
          <p:cNvPr id="142" name="Group 142"/>
          <p:cNvGrpSpPr/>
          <p:nvPr/>
        </p:nvGrpSpPr>
        <p:grpSpPr>
          <a:xfrm>
            <a:off x="6238875" y="4584065"/>
            <a:ext cx="1619250" cy="367030"/>
            <a:chOff x="0" y="0"/>
            <a:chExt cx="1905000" cy="431800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1905000" cy="431800"/>
            </a:xfrm>
            <a:custGeom>
              <a:avLst/>
              <a:gdLst/>
              <a:ahLst/>
              <a:cxnLst/>
              <a:rect l="l" t="t" r="r" b="b"/>
              <a:pathLst>
                <a:path w="1905000" h="431800">
                  <a:moveTo>
                    <a:pt x="0" y="215900"/>
                  </a:moveTo>
                  <a:cubicBezTo>
                    <a:pt x="0" y="335138"/>
                    <a:pt x="426449" y="431800"/>
                    <a:pt x="952500" y="431800"/>
                  </a:cubicBezTo>
                  <a:cubicBezTo>
                    <a:pt x="1478551" y="431800"/>
                    <a:pt x="1905000" y="335138"/>
                    <a:pt x="1905000" y="215900"/>
                  </a:cubicBezTo>
                  <a:cubicBezTo>
                    <a:pt x="1905000" y="96662"/>
                    <a:pt x="1478551" y="0"/>
                    <a:pt x="952500" y="0"/>
                  </a:cubicBezTo>
                  <a:cubicBezTo>
                    <a:pt x="42644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0" y="-38100"/>
              <a:ext cx="1905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5" name="TextBox 145"/>
          <p:cNvSpPr txBox="1"/>
          <p:nvPr/>
        </p:nvSpPr>
        <p:spPr>
          <a:xfrm>
            <a:off x="6286500" y="4633595"/>
            <a:ext cx="159334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application_id (PK)</a:t>
            </a:r>
          </a:p>
        </p:txBody>
      </p:sp>
      <p:grpSp>
        <p:nvGrpSpPr>
          <p:cNvPr id="146" name="Group 146"/>
          <p:cNvGrpSpPr/>
          <p:nvPr/>
        </p:nvGrpSpPr>
        <p:grpSpPr>
          <a:xfrm>
            <a:off x="8036069" y="4419600"/>
            <a:ext cx="1596736" cy="374407"/>
            <a:chOff x="0" y="0"/>
            <a:chExt cx="1841500" cy="4318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841500" cy="431800"/>
            </a:xfrm>
            <a:custGeom>
              <a:avLst/>
              <a:gdLst/>
              <a:ahLst/>
              <a:cxnLst/>
              <a:rect l="l" t="t" r="r" b="b"/>
              <a:pathLst>
                <a:path w="1841500" h="431800">
                  <a:moveTo>
                    <a:pt x="0" y="215900"/>
                  </a:moveTo>
                  <a:cubicBezTo>
                    <a:pt x="0" y="335138"/>
                    <a:pt x="412234" y="431800"/>
                    <a:pt x="920750" y="431800"/>
                  </a:cubicBezTo>
                  <a:cubicBezTo>
                    <a:pt x="1429266" y="431800"/>
                    <a:pt x="1841500" y="335138"/>
                    <a:pt x="1841500" y="215900"/>
                  </a:cubicBezTo>
                  <a:cubicBezTo>
                    <a:pt x="1841500" y="96662"/>
                    <a:pt x="1429266" y="0"/>
                    <a:pt x="920750" y="0"/>
                  </a:cubicBezTo>
                  <a:cubicBezTo>
                    <a:pt x="41223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A9B78"/>
              </a:solidFill>
              <a:prstDash val="solid"/>
              <a:miter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1841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9" name="TextBox 149"/>
          <p:cNvSpPr txBox="1"/>
          <p:nvPr/>
        </p:nvSpPr>
        <p:spPr>
          <a:xfrm>
            <a:off x="8024812" y="4480438"/>
            <a:ext cx="1500188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applicant_id (FK)</a:t>
            </a:r>
          </a:p>
        </p:txBody>
      </p:sp>
      <p:grpSp>
        <p:nvGrpSpPr>
          <p:cNvPr id="150" name="Group 150"/>
          <p:cNvGrpSpPr/>
          <p:nvPr/>
        </p:nvGrpSpPr>
        <p:grpSpPr>
          <a:xfrm>
            <a:off x="10128106" y="4493260"/>
            <a:ext cx="1444769" cy="409351"/>
            <a:chOff x="0" y="0"/>
            <a:chExt cx="1524000" cy="431800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1524000" cy="431800"/>
            </a:xfrm>
            <a:custGeom>
              <a:avLst/>
              <a:gdLst/>
              <a:ahLst/>
              <a:cxnLst/>
              <a:rect l="l" t="t" r="r" b="b"/>
              <a:pathLst>
                <a:path w="1524000" h="431800">
                  <a:moveTo>
                    <a:pt x="0" y="215900"/>
                  </a:moveTo>
                  <a:cubicBezTo>
                    <a:pt x="0" y="335138"/>
                    <a:pt x="341159" y="431800"/>
                    <a:pt x="762000" y="431800"/>
                  </a:cubicBezTo>
                  <a:cubicBezTo>
                    <a:pt x="1182841" y="431800"/>
                    <a:pt x="1524000" y="335138"/>
                    <a:pt x="1524000" y="215900"/>
                  </a:cubicBezTo>
                  <a:cubicBezTo>
                    <a:pt x="1524000" y="96662"/>
                    <a:pt x="1182841" y="0"/>
                    <a:pt x="762000" y="0"/>
                  </a:cubicBezTo>
                  <a:cubicBezTo>
                    <a:pt x="34115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A9B78"/>
              </a:solidFill>
              <a:prstDash val="solid"/>
              <a:miter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0" y="-38100"/>
              <a:ext cx="1524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3" name="TextBox 153"/>
          <p:cNvSpPr txBox="1"/>
          <p:nvPr/>
        </p:nvSpPr>
        <p:spPr>
          <a:xfrm>
            <a:off x="10296525" y="4571570"/>
            <a:ext cx="104775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job_id (FK)</a:t>
            </a:r>
          </a:p>
        </p:txBody>
      </p:sp>
      <p:grpSp>
        <p:nvGrpSpPr>
          <p:cNvPr id="154" name="Group 154"/>
          <p:cNvGrpSpPr/>
          <p:nvPr/>
        </p:nvGrpSpPr>
        <p:grpSpPr>
          <a:xfrm>
            <a:off x="10600905" y="5191442"/>
            <a:ext cx="1753441" cy="361315"/>
            <a:chOff x="0" y="0"/>
            <a:chExt cx="2095500" cy="4318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2095500" cy="431800"/>
            </a:xfrm>
            <a:custGeom>
              <a:avLst/>
              <a:gdLst/>
              <a:ahLst/>
              <a:cxnLst/>
              <a:rect l="l" t="t" r="r" b="b"/>
              <a:pathLst>
                <a:path w="2095500" h="431800">
                  <a:moveTo>
                    <a:pt x="0" y="215900"/>
                  </a:moveTo>
                  <a:cubicBezTo>
                    <a:pt x="0" y="335138"/>
                    <a:pt x="469094" y="431800"/>
                    <a:pt x="1047750" y="431800"/>
                  </a:cubicBezTo>
                  <a:cubicBezTo>
                    <a:pt x="1626406" y="431800"/>
                    <a:pt x="2095500" y="335138"/>
                    <a:pt x="2095500" y="215900"/>
                  </a:cubicBezTo>
                  <a:cubicBezTo>
                    <a:pt x="2095500" y="96662"/>
                    <a:pt x="1626406" y="0"/>
                    <a:pt x="1047750" y="0"/>
                  </a:cubicBezTo>
                  <a:cubicBezTo>
                    <a:pt x="46909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0" y="-38100"/>
              <a:ext cx="2095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7" name="TextBox 157"/>
          <p:cNvSpPr txBox="1"/>
          <p:nvPr/>
        </p:nvSpPr>
        <p:spPr>
          <a:xfrm>
            <a:off x="10715625" y="5251450"/>
            <a:ext cx="14763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application_date</a:t>
            </a:r>
          </a:p>
        </p:txBody>
      </p:sp>
      <p:grpSp>
        <p:nvGrpSpPr>
          <p:cNvPr id="158" name="Group 158"/>
          <p:cNvGrpSpPr/>
          <p:nvPr/>
        </p:nvGrpSpPr>
        <p:grpSpPr>
          <a:xfrm>
            <a:off x="10980364" y="5838508"/>
            <a:ext cx="1095375" cy="323850"/>
            <a:chOff x="0" y="0"/>
            <a:chExt cx="1460500" cy="431800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460500" cy="431800"/>
            </a:xfrm>
            <a:custGeom>
              <a:avLst/>
              <a:gdLst/>
              <a:ahLst/>
              <a:cxnLst/>
              <a:rect l="l" t="t" r="r" b="b"/>
              <a:pathLst>
                <a:path w="1460500" h="431800">
                  <a:moveTo>
                    <a:pt x="0" y="215900"/>
                  </a:moveTo>
                  <a:cubicBezTo>
                    <a:pt x="0" y="335138"/>
                    <a:pt x="326944" y="431800"/>
                    <a:pt x="730250" y="431800"/>
                  </a:cubicBezTo>
                  <a:cubicBezTo>
                    <a:pt x="1133556" y="431800"/>
                    <a:pt x="1460500" y="335138"/>
                    <a:pt x="1460500" y="215900"/>
                  </a:cubicBezTo>
                  <a:cubicBezTo>
                    <a:pt x="1460500" y="96662"/>
                    <a:pt x="1133556" y="0"/>
                    <a:pt x="730250" y="0"/>
                  </a:cubicBezTo>
                  <a:cubicBezTo>
                    <a:pt x="32694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1460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1" name="TextBox 161"/>
          <p:cNvSpPr txBox="1"/>
          <p:nvPr/>
        </p:nvSpPr>
        <p:spPr>
          <a:xfrm>
            <a:off x="10980364" y="5876910"/>
            <a:ext cx="100012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status</a:t>
            </a:r>
          </a:p>
        </p:txBody>
      </p:sp>
      <p:grpSp>
        <p:nvGrpSpPr>
          <p:cNvPr id="162" name="Group 162"/>
          <p:cNvGrpSpPr/>
          <p:nvPr/>
        </p:nvGrpSpPr>
        <p:grpSpPr>
          <a:xfrm>
            <a:off x="3507144" y="7730783"/>
            <a:ext cx="1738312" cy="384912"/>
            <a:chOff x="0" y="0"/>
            <a:chExt cx="1778000" cy="393700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1778000" cy="393700"/>
            </a:xfrm>
            <a:custGeom>
              <a:avLst/>
              <a:gdLst/>
              <a:ahLst/>
              <a:cxnLst/>
              <a:rect l="l" t="t" r="r" b="b"/>
              <a:pathLst>
                <a:path w="1778000" h="393700">
                  <a:moveTo>
                    <a:pt x="0" y="196850"/>
                  </a:moveTo>
                  <a:cubicBezTo>
                    <a:pt x="0" y="305567"/>
                    <a:pt x="398019" y="393700"/>
                    <a:pt x="889000" y="393700"/>
                  </a:cubicBezTo>
                  <a:cubicBezTo>
                    <a:pt x="1379981" y="393700"/>
                    <a:pt x="1778000" y="305567"/>
                    <a:pt x="1778000" y="196850"/>
                  </a:cubicBezTo>
                  <a:cubicBezTo>
                    <a:pt x="1778000" y="88133"/>
                    <a:pt x="1379981" y="0"/>
                    <a:pt x="889000" y="0"/>
                  </a:cubicBezTo>
                  <a:cubicBezTo>
                    <a:pt x="398019" y="0"/>
                    <a:pt x="0" y="88133"/>
                    <a:pt x="0" y="19685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0" y="-38100"/>
              <a:ext cx="17780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5" name="TextBox 165"/>
          <p:cNvSpPr txBox="1"/>
          <p:nvPr/>
        </p:nvSpPr>
        <p:spPr>
          <a:xfrm>
            <a:off x="3683356" y="7780641"/>
            <a:ext cx="1418868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interview_id (PK)</a:t>
            </a:r>
          </a:p>
        </p:txBody>
      </p:sp>
      <p:grpSp>
        <p:nvGrpSpPr>
          <p:cNvPr id="166" name="Group 166"/>
          <p:cNvGrpSpPr/>
          <p:nvPr/>
        </p:nvGrpSpPr>
        <p:grpSpPr>
          <a:xfrm>
            <a:off x="3761675" y="8722120"/>
            <a:ext cx="1762125" cy="399415"/>
            <a:chOff x="0" y="0"/>
            <a:chExt cx="1905000" cy="431800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905000" cy="431800"/>
            </a:xfrm>
            <a:custGeom>
              <a:avLst/>
              <a:gdLst/>
              <a:ahLst/>
              <a:cxnLst/>
              <a:rect l="l" t="t" r="r" b="b"/>
              <a:pathLst>
                <a:path w="1905000" h="431800">
                  <a:moveTo>
                    <a:pt x="0" y="215900"/>
                  </a:moveTo>
                  <a:cubicBezTo>
                    <a:pt x="0" y="335138"/>
                    <a:pt x="426449" y="431800"/>
                    <a:pt x="952500" y="431800"/>
                  </a:cubicBezTo>
                  <a:cubicBezTo>
                    <a:pt x="1478551" y="431800"/>
                    <a:pt x="1905000" y="335138"/>
                    <a:pt x="1905000" y="215900"/>
                  </a:cubicBezTo>
                  <a:cubicBezTo>
                    <a:pt x="1905000" y="96662"/>
                    <a:pt x="1478551" y="0"/>
                    <a:pt x="952500" y="0"/>
                  </a:cubicBezTo>
                  <a:cubicBezTo>
                    <a:pt x="42644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A9B78"/>
              </a:solidFill>
              <a:prstDash val="solid"/>
              <a:miter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0" y="-38100"/>
              <a:ext cx="1905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9" name="TextBox 169"/>
          <p:cNvSpPr txBox="1"/>
          <p:nvPr/>
        </p:nvSpPr>
        <p:spPr>
          <a:xfrm>
            <a:off x="3873975" y="8784667"/>
            <a:ext cx="15375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application_id (FK)</a:t>
            </a:r>
          </a:p>
        </p:txBody>
      </p:sp>
      <p:grpSp>
        <p:nvGrpSpPr>
          <p:cNvPr id="170" name="Group 170"/>
          <p:cNvGrpSpPr/>
          <p:nvPr/>
        </p:nvGrpSpPr>
        <p:grpSpPr>
          <a:xfrm>
            <a:off x="5983674" y="9573020"/>
            <a:ext cx="1635626" cy="410210"/>
            <a:chOff x="0" y="0"/>
            <a:chExt cx="2180835" cy="546947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2180835" cy="546947"/>
            </a:xfrm>
            <a:custGeom>
              <a:avLst/>
              <a:gdLst/>
              <a:ahLst/>
              <a:cxnLst/>
              <a:rect l="l" t="t" r="r" b="b"/>
              <a:pathLst>
                <a:path w="2180835" h="546947">
                  <a:moveTo>
                    <a:pt x="0" y="273473"/>
                  </a:moveTo>
                  <a:cubicBezTo>
                    <a:pt x="0" y="424508"/>
                    <a:pt x="488196" y="546947"/>
                    <a:pt x="1090417" y="546947"/>
                  </a:cubicBezTo>
                  <a:cubicBezTo>
                    <a:pt x="1692638" y="546947"/>
                    <a:pt x="2180835" y="424508"/>
                    <a:pt x="2180835" y="273473"/>
                  </a:cubicBezTo>
                  <a:cubicBezTo>
                    <a:pt x="2180835" y="122438"/>
                    <a:pt x="1692638" y="0"/>
                    <a:pt x="1090417" y="0"/>
                  </a:cubicBezTo>
                  <a:cubicBezTo>
                    <a:pt x="488196" y="0"/>
                    <a:pt x="0" y="122438"/>
                    <a:pt x="0" y="273473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0" y="-38100"/>
              <a:ext cx="2180835" cy="585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8095550" y="8972945"/>
            <a:ext cx="1619250" cy="379686"/>
            <a:chOff x="0" y="0"/>
            <a:chExt cx="1841500" cy="431800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1841500" cy="431800"/>
            </a:xfrm>
            <a:custGeom>
              <a:avLst/>
              <a:gdLst/>
              <a:ahLst/>
              <a:cxnLst/>
              <a:rect l="l" t="t" r="r" b="b"/>
              <a:pathLst>
                <a:path w="1841500" h="431800">
                  <a:moveTo>
                    <a:pt x="0" y="215900"/>
                  </a:moveTo>
                  <a:cubicBezTo>
                    <a:pt x="0" y="335138"/>
                    <a:pt x="412234" y="431800"/>
                    <a:pt x="920750" y="431800"/>
                  </a:cubicBezTo>
                  <a:cubicBezTo>
                    <a:pt x="1429266" y="431800"/>
                    <a:pt x="1841500" y="335138"/>
                    <a:pt x="1841500" y="215900"/>
                  </a:cubicBezTo>
                  <a:cubicBezTo>
                    <a:pt x="1841500" y="96662"/>
                    <a:pt x="1429266" y="0"/>
                    <a:pt x="920750" y="0"/>
                  </a:cubicBezTo>
                  <a:cubicBezTo>
                    <a:pt x="412234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0" y="-38100"/>
              <a:ext cx="18415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6" name="TextBox 176"/>
          <p:cNvSpPr txBox="1"/>
          <p:nvPr/>
        </p:nvSpPr>
        <p:spPr>
          <a:xfrm>
            <a:off x="8200325" y="9011045"/>
            <a:ext cx="151447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interview_mode</a:t>
            </a:r>
          </a:p>
        </p:txBody>
      </p:sp>
      <p:grpSp>
        <p:nvGrpSpPr>
          <p:cNvPr id="177" name="Group 177"/>
          <p:cNvGrpSpPr/>
          <p:nvPr/>
        </p:nvGrpSpPr>
        <p:grpSpPr>
          <a:xfrm>
            <a:off x="8216013" y="7668020"/>
            <a:ext cx="1690687" cy="377516"/>
            <a:chOff x="0" y="0"/>
            <a:chExt cx="1968500" cy="439549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1968500" cy="439549"/>
            </a:xfrm>
            <a:custGeom>
              <a:avLst/>
              <a:gdLst/>
              <a:ahLst/>
              <a:cxnLst/>
              <a:rect l="l" t="t" r="r" b="b"/>
              <a:pathLst>
                <a:path w="1968500" h="439549">
                  <a:moveTo>
                    <a:pt x="0" y="219775"/>
                  </a:moveTo>
                  <a:cubicBezTo>
                    <a:pt x="0" y="341153"/>
                    <a:pt x="440664" y="439549"/>
                    <a:pt x="984250" y="439549"/>
                  </a:cubicBezTo>
                  <a:cubicBezTo>
                    <a:pt x="1527836" y="439549"/>
                    <a:pt x="1968500" y="341153"/>
                    <a:pt x="1968500" y="219775"/>
                  </a:cubicBezTo>
                  <a:cubicBezTo>
                    <a:pt x="1968500" y="98396"/>
                    <a:pt x="1527836" y="0"/>
                    <a:pt x="984250" y="0"/>
                  </a:cubicBezTo>
                  <a:cubicBezTo>
                    <a:pt x="440664" y="0"/>
                    <a:pt x="0" y="98396"/>
                    <a:pt x="0" y="219775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0" y="-47625"/>
              <a:ext cx="1968500" cy="487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19"/>
                </a:lnSpc>
              </a:pPr>
              <a:r>
                <a:rPr lang="en-US" sz="12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interview_date</a:t>
              </a:r>
            </a:p>
          </p:txBody>
        </p:sp>
      </p:grpSp>
      <p:sp>
        <p:nvSpPr>
          <p:cNvPr id="180" name="TextBox 180"/>
          <p:cNvSpPr txBox="1"/>
          <p:nvPr/>
        </p:nvSpPr>
        <p:spPr>
          <a:xfrm>
            <a:off x="6095300" y="9646045"/>
            <a:ext cx="13811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interview_result</a:t>
            </a:r>
          </a:p>
        </p:txBody>
      </p:sp>
      <p:grpSp>
        <p:nvGrpSpPr>
          <p:cNvPr id="181" name="Group 181"/>
          <p:cNvGrpSpPr/>
          <p:nvPr/>
        </p:nvGrpSpPr>
        <p:grpSpPr>
          <a:xfrm>
            <a:off x="13096875" y="7620635"/>
            <a:ext cx="1649553" cy="400606"/>
            <a:chOff x="0" y="0"/>
            <a:chExt cx="1778000" cy="431800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1778000" cy="431800"/>
            </a:xfrm>
            <a:custGeom>
              <a:avLst/>
              <a:gdLst/>
              <a:ahLst/>
              <a:cxnLst/>
              <a:rect l="l" t="t" r="r" b="b"/>
              <a:pathLst>
                <a:path w="1778000" h="431800">
                  <a:moveTo>
                    <a:pt x="0" y="215900"/>
                  </a:moveTo>
                  <a:cubicBezTo>
                    <a:pt x="0" y="335138"/>
                    <a:pt x="398019" y="431800"/>
                    <a:pt x="889000" y="431800"/>
                  </a:cubicBezTo>
                  <a:cubicBezTo>
                    <a:pt x="1379981" y="431800"/>
                    <a:pt x="1778000" y="335138"/>
                    <a:pt x="1778000" y="215900"/>
                  </a:cubicBezTo>
                  <a:cubicBezTo>
                    <a:pt x="1778000" y="96662"/>
                    <a:pt x="1379981" y="0"/>
                    <a:pt x="889000" y="0"/>
                  </a:cubicBezTo>
                  <a:cubicBezTo>
                    <a:pt x="39801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0" y="-38100"/>
              <a:ext cx="1778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4" name="TextBox 184"/>
          <p:cNvSpPr txBox="1"/>
          <p:nvPr/>
        </p:nvSpPr>
        <p:spPr>
          <a:xfrm>
            <a:off x="13101638" y="7720239"/>
            <a:ext cx="15240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selection_id (PK)</a:t>
            </a:r>
          </a:p>
        </p:txBody>
      </p:sp>
      <p:grpSp>
        <p:nvGrpSpPr>
          <p:cNvPr id="185" name="Group 185"/>
          <p:cNvGrpSpPr/>
          <p:nvPr/>
        </p:nvGrpSpPr>
        <p:grpSpPr>
          <a:xfrm>
            <a:off x="13290140" y="8497212"/>
            <a:ext cx="1949860" cy="350195"/>
            <a:chOff x="0" y="0"/>
            <a:chExt cx="2404233" cy="431800"/>
          </a:xfrm>
        </p:grpSpPr>
        <p:sp>
          <p:nvSpPr>
            <p:cNvPr id="186" name="Freeform 186"/>
            <p:cNvSpPr/>
            <p:nvPr/>
          </p:nvSpPr>
          <p:spPr>
            <a:xfrm>
              <a:off x="0" y="0"/>
              <a:ext cx="2404233" cy="431800"/>
            </a:xfrm>
            <a:custGeom>
              <a:avLst/>
              <a:gdLst/>
              <a:ahLst/>
              <a:cxnLst/>
              <a:rect l="l" t="t" r="r" b="b"/>
              <a:pathLst>
                <a:path w="2404233" h="431800">
                  <a:moveTo>
                    <a:pt x="0" y="215900"/>
                  </a:moveTo>
                  <a:cubicBezTo>
                    <a:pt x="0" y="335138"/>
                    <a:pt x="538206" y="431800"/>
                    <a:pt x="1202117" y="431800"/>
                  </a:cubicBezTo>
                  <a:cubicBezTo>
                    <a:pt x="1866027" y="431800"/>
                    <a:pt x="2404233" y="335138"/>
                    <a:pt x="2404233" y="215900"/>
                  </a:cubicBezTo>
                  <a:cubicBezTo>
                    <a:pt x="2404233" y="96662"/>
                    <a:pt x="1866027" y="0"/>
                    <a:pt x="1202117" y="0"/>
                  </a:cubicBezTo>
                  <a:cubicBezTo>
                    <a:pt x="538206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A9B78"/>
              </a:solidFill>
              <a:prstDash val="solid"/>
              <a:miter/>
            </a:ln>
          </p:spPr>
        </p:sp>
        <p:sp>
          <p:nvSpPr>
            <p:cNvPr id="187" name="TextBox 187"/>
            <p:cNvSpPr txBox="1"/>
            <p:nvPr/>
          </p:nvSpPr>
          <p:spPr>
            <a:xfrm>
              <a:off x="0" y="-38100"/>
              <a:ext cx="2404233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8" name="TextBox 188"/>
          <p:cNvSpPr txBox="1"/>
          <p:nvPr/>
        </p:nvSpPr>
        <p:spPr>
          <a:xfrm>
            <a:off x="13501616" y="8546935"/>
            <a:ext cx="1542923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application_id (FK)</a:t>
            </a:r>
          </a:p>
        </p:txBody>
      </p:sp>
      <p:grpSp>
        <p:nvGrpSpPr>
          <p:cNvPr id="189" name="Group 189"/>
          <p:cNvGrpSpPr/>
          <p:nvPr/>
        </p:nvGrpSpPr>
        <p:grpSpPr>
          <a:xfrm>
            <a:off x="13076030" y="9304607"/>
            <a:ext cx="1687585" cy="382519"/>
            <a:chOff x="0" y="0"/>
            <a:chExt cx="1905000" cy="431800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1905000" cy="431800"/>
            </a:xfrm>
            <a:custGeom>
              <a:avLst/>
              <a:gdLst/>
              <a:ahLst/>
              <a:cxnLst/>
              <a:rect l="l" t="t" r="r" b="b"/>
              <a:pathLst>
                <a:path w="1905000" h="431800">
                  <a:moveTo>
                    <a:pt x="0" y="215900"/>
                  </a:moveTo>
                  <a:cubicBezTo>
                    <a:pt x="0" y="335138"/>
                    <a:pt x="426449" y="431800"/>
                    <a:pt x="952500" y="431800"/>
                  </a:cubicBezTo>
                  <a:cubicBezTo>
                    <a:pt x="1478551" y="431800"/>
                    <a:pt x="1905000" y="335138"/>
                    <a:pt x="1905000" y="215900"/>
                  </a:cubicBezTo>
                  <a:cubicBezTo>
                    <a:pt x="1905000" y="96662"/>
                    <a:pt x="1478551" y="0"/>
                    <a:pt x="952500" y="0"/>
                  </a:cubicBezTo>
                  <a:cubicBezTo>
                    <a:pt x="426449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0" y="-38100"/>
              <a:ext cx="1905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2" name="TextBox 192"/>
          <p:cNvSpPr txBox="1"/>
          <p:nvPr/>
        </p:nvSpPr>
        <p:spPr>
          <a:xfrm>
            <a:off x="13253073" y="9363027"/>
            <a:ext cx="1333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selection_date</a:t>
            </a:r>
          </a:p>
        </p:txBody>
      </p:sp>
      <p:grpSp>
        <p:nvGrpSpPr>
          <p:cNvPr id="193" name="Group 193"/>
          <p:cNvGrpSpPr/>
          <p:nvPr/>
        </p:nvGrpSpPr>
        <p:grpSpPr>
          <a:xfrm>
            <a:off x="10894219" y="9512695"/>
            <a:ext cx="1452562" cy="323850"/>
            <a:chOff x="0" y="0"/>
            <a:chExt cx="1936750" cy="431800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1936750" cy="431800"/>
            </a:xfrm>
            <a:custGeom>
              <a:avLst/>
              <a:gdLst/>
              <a:ahLst/>
              <a:cxnLst/>
              <a:rect l="l" t="t" r="r" b="b"/>
              <a:pathLst>
                <a:path w="1936750" h="431800">
                  <a:moveTo>
                    <a:pt x="0" y="215900"/>
                  </a:moveTo>
                  <a:cubicBezTo>
                    <a:pt x="0" y="335138"/>
                    <a:pt x="433556" y="431800"/>
                    <a:pt x="968375" y="431800"/>
                  </a:cubicBezTo>
                  <a:cubicBezTo>
                    <a:pt x="1503194" y="431800"/>
                    <a:pt x="1936750" y="335138"/>
                    <a:pt x="1936750" y="215900"/>
                  </a:cubicBezTo>
                  <a:cubicBezTo>
                    <a:pt x="1936750" y="96662"/>
                    <a:pt x="1503194" y="0"/>
                    <a:pt x="968375" y="0"/>
                  </a:cubicBezTo>
                  <a:cubicBezTo>
                    <a:pt x="433556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426B72"/>
              </a:solidFill>
              <a:prstDash val="solid"/>
              <a:miter/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0" y="-38100"/>
              <a:ext cx="193675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6" name="TextBox 196"/>
          <p:cNvSpPr txBox="1"/>
          <p:nvPr/>
        </p:nvSpPr>
        <p:spPr>
          <a:xfrm>
            <a:off x="11096625" y="9592070"/>
            <a:ext cx="1047750" cy="15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</a:t>
            </a:r>
          </a:p>
        </p:txBody>
      </p:sp>
      <p:sp>
        <p:nvSpPr>
          <p:cNvPr id="197" name="AutoShape 197"/>
          <p:cNvSpPr/>
          <p:nvPr/>
        </p:nvSpPr>
        <p:spPr>
          <a:xfrm>
            <a:off x="6977062" y="1190625"/>
            <a:ext cx="902786" cy="25717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8" name="AutoShape 198"/>
          <p:cNvSpPr/>
          <p:nvPr/>
        </p:nvSpPr>
        <p:spPr>
          <a:xfrm flipH="1">
            <a:off x="9620250" y="1235075"/>
            <a:ext cx="1152525" cy="21272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9" name="AutoShape 199"/>
          <p:cNvSpPr/>
          <p:nvPr/>
        </p:nvSpPr>
        <p:spPr>
          <a:xfrm>
            <a:off x="7166518" y="2540702"/>
            <a:ext cx="643982" cy="412048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0" name="AutoShape 200"/>
          <p:cNvSpPr/>
          <p:nvPr/>
        </p:nvSpPr>
        <p:spPr>
          <a:xfrm flipH="1">
            <a:off x="9048750" y="2473570"/>
            <a:ext cx="710248" cy="47918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1" name="AutoShape 201"/>
          <p:cNvSpPr/>
          <p:nvPr/>
        </p:nvSpPr>
        <p:spPr>
          <a:xfrm flipH="1" flipV="1">
            <a:off x="9454245" y="3333750"/>
            <a:ext cx="413655" cy="330756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2" name="AutoShape 202"/>
          <p:cNvSpPr/>
          <p:nvPr/>
        </p:nvSpPr>
        <p:spPr>
          <a:xfrm flipV="1">
            <a:off x="7143750" y="3333750"/>
            <a:ext cx="666750" cy="539432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3" name="AutoShape 203"/>
          <p:cNvSpPr/>
          <p:nvPr/>
        </p:nvSpPr>
        <p:spPr>
          <a:xfrm flipH="1" flipV="1">
            <a:off x="8686800" y="3371850"/>
            <a:ext cx="16669" cy="53340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4" name="AutoShape 204"/>
          <p:cNvSpPr/>
          <p:nvPr/>
        </p:nvSpPr>
        <p:spPr>
          <a:xfrm flipV="1">
            <a:off x="15049500" y="3371850"/>
            <a:ext cx="190500" cy="29527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" name="AutoShape 205"/>
          <p:cNvSpPr/>
          <p:nvPr/>
        </p:nvSpPr>
        <p:spPr>
          <a:xfrm>
            <a:off x="16097250" y="3019425"/>
            <a:ext cx="95250" cy="14287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6" name="AutoShape 206"/>
          <p:cNvSpPr/>
          <p:nvPr/>
        </p:nvSpPr>
        <p:spPr>
          <a:xfrm flipH="1" flipV="1">
            <a:off x="16201825" y="3346011"/>
            <a:ext cx="525304" cy="321114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7" name="AutoShape 207"/>
          <p:cNvSpPr/>
          <p:nvPr/>
        </p:nvSpPr>
        <p:spPr>
          <a:xfrm>
            <a:off x="1755407" y="4801421"/>
            <a:ext cx="335912" cy="342079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8" name="AutoShape 208"/>
          <p:cNvSpPr/>
          <p:nvPr/>
        </p:nvSpPr>
        <p:spPr>
          <a:xfrm flipH="1">
            <a:off x="2762250" y="4714875"/>
            <a:ext cx="290711" cy="42862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9" name="AutoShape 209"/>
          <p:cNvSpPr/>
          <p:nvPr/>
        </p:nvSpPr>
        <p:spPr>
          <a:xfrm flipV="1">
            <a:off x="959179" y="5562600"/>
            <a:ext cx="796228" cy="173941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0" name="AutoShape 210"/>
          <p:cNvSpPr/>
          <p:nvPr/>
        </p:nvSpPr>
        <p:spPr>
          <a:xfrm flipV="1">
            <a:off x="2098173" y="5648325"/>
            <a:ext cx="185585" cy="800547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" name="AutoShape 211"/>
          <p:cNvSpPr/>
          <p:nvPr/>
        </p:nvSpPr>
        <p:spPr>
          <a:xfrm flipH="1" flipV="1">
            <a:off x="2524125" y="5562600"/>
            <a:ext cx="680573" cy="993607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2" name="AutoShape 212"/>
          <p:cNvSpPr/>
          <p:nvPr/>
        </p:nvSpPr>
        <p:spPr>
          <a:xfrm flipH="1" flipV="1">
            <a:off x="3429000" y="5520715"/>
            <a:ext cx="1014513" cy="530820"/>
          </a:xfrm>
          <a:prstGeom prst="line">
            <a:avLst/>
          </a:prstGeom>
          <a:ln w="28575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3" name="AutoShape 213"/>
          <p:cNvSpPr/>
          <p:nvPr/>
        </p:nvSpPr>
        <p:spPr>
          <a:xfrm>
            <a:off x="7095425" y="4983971"/>
            <a:ext cx="1383903" cy="14559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4" name="AutoShape 214"/>
          <p:cNvSpPr/>
          <p:nvPr/>
        </p:nvSpPr>
        <p:spPr>
          <a:xfrm>
            <a:off x="8572500" y="4752975"/>
            <a:ext cx="0" cy="39052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5" name="AutoShape 215"/>
          <p:cNvSpPr/>
          <p:nvPr/>
        </p:nvSpPr>
        <p:spPr>
          <a:xfrm flipH="1">
            <a:off x="9993803" y="4815088"/>
            <a:ext cx="264264" cy="314473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6" name="AutoShape 216"/>
          <p:cNvSpPr/>
          <p:nvPr/>
        </p:nvSpPr>
        <p:spPr>
          <a:xfrm>
            <a:off x="10079528" y="5548661"/>
            <a:ext cx="900836" cy="451771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7" name="AutoShape 217"/>
          <p:cNvSpPr/>
          <p:nvPr/>
        </p:nvSpPr>
        <p:spPr>
          <a:xfrm flipH="1" flipV="1">
            <a:off x="10079528" y="5358161"/>
            <a:ext cx="521377" cy="13939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8" name="AutoShape 218"/>
          <p:cNvSpPr/>
          <p:nvPr/>
        </p:nvSpPr>
        <p:spPr>
          <a:xfrm>
            <a:off x="5245456" y="7923239"/>
            <a:ext cx="706968" cy="402006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9" name="AutoShape 219"/>
          <p:cNvSpPr/>
          <p:nvPr/>
        </p:nvSpPr>
        <p:spPr>
          <a:xfrm flipV="1">
            <a:off x="5523800" y="8534795"/>
            <a:ext cx="727872" cy="387033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0" name="AutoShape 220"/>
          <p:cNvSpPr/>
          <p:nvPr/>
        </p:nvSpPr>
        <p:spPr>
          <a:xfrm flipH="1" flipV="1">
            <a:off x="6762050" y="8534795"/>
            <a:ext cx="39437" cy="103822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1" name="AutoShape 221"/>
          <p:cNvSpPr/>
          <p:nvPr/>
        </p:nvSpPr>
        <p:spPr>
          <a:xfrm flipH="1" flipV="1">
            <a:off x="7714206" y="8534795"/>
            <a:ext cx="381344" cy="627993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2" name="AutoShape 222"/>
          <p:cNvSpPr/>
          <p:nvPr/>
        </p:nvSpPr>
        <p:spPr>
          <a:xfrm flipH="1">
            <a:off x="7762175" y="7856778"/>
            <a:ext cx="453838" cy="468467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3" name="AutoShape 223"/>
          <p:cNvSpPr/>
          <p:nvPr/>
        </p:nvSpPr>
        <p:spPr>
          <a:xfrm flipH="1">
            <a:off x="12354345" y="7846604"/>
            <a:ext cx="747292" cy="198932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4" name="AutoShape 224"/>
          <p:cNvSpPr/>
          <p:nvPr/>
        </p:nvSpPr>
        <p:spPr>
          <a:xfrm flipH="1" flipV="1">
            <a:off x="12477750" y="8305800"/>
            <a:ext cx="812390" cy="366509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5" name="AutoShape 225"/>
          <p:cNvSpPr/>
          <p:nvPr/>
        </p:nvSpPr>
        <p:spPr>
          <a:xfrm flipH="1" flipV="1">
            <a:off x="11572875" y="8515350"/>
            <a:ext cx="69131" cy="99734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6" name="AutoShape 226"/>
          <p:cNvSpPr/>
          <p:nvPr/>
        </p:nvSpPr>
        <p:spPr>
          <a:xfrm flipH="1" flipV="1">
            <a:off x="12287250" y="8501380"/>
            <a:ext cx="788780" cy="994486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7" name="Group 227"/>
          <p:cNvGrpSpPr/>
          <p:nvPr/>
        </p:nvGrpSpPr>
        <p:grpSpPr>
          <a:xfrm>
            <a:off x="15821025" y="7277100"/>
            <a:ext cx="2255001" cy="2671456"/>
            <a:chOff x="0" y="0"/>
            <a:chExt cx="5207000" cy="6168633"/>
          </a:xfrm>
        </p:grpSpPr>
        <p:sp>
          <p:nvSpPr>
            <p:cNvPr id="228" name="Freeform 228"/>
            <p:cNvSpPr/>
            <p:nvPr/>
          </p:nvSpPr>
          <p:spPr>
            <a:xfrm>
              <a:off x="0" y="0"/>
              <a:ext cx="5207000" cy="6168633"/>
            </a:xfrm>
            <a:custGeom>
              <a:avLst/>
              <a:gdLst/>
              <a:ahLst/>
              <a:cxnLst/>
              <a:rect l="l" t="t" r="r" b="b"/>
              <a:pathLst>
                <a:path w="5207000" h="6168633">
                  <a:moveTo>
                    <a:pt x="76200" y="0"/>
                  </a:moveTo>
                  <a:lnTo>
                    <a:pt x="5130800" y="0"/>
                  </a:lnTo>
                  <a:cubicBezTo>
                    <a:pt x="5172884" y="0"/>
                    <a:pt x="5207000" y="301286"/>
                    <a:pt x="5207000" y="672942"/>
                  </a:cubicBezTo>
                  <a:lnTo>
                    <a:pt x="5207000" y="5495691"/>
                  </a:lnTo>
                  <a:cubicBezTo>
                    <a:pt x="5207000" y="5867347"/>
                    <a:pt x="5172884" y="6168633"/>
                    <a:pt x="5130800" y="6168633"/>
                  </a:cubicBezTo>
                  <a:lnTo>
                    <a:pt x="76200" y="6168633"/>
                  </a:lnTo>
                  <a:cubicBezTo>
                    <a:pt x="34116" y="6168633"/>
                    <a:pt x="0" y="5867347"/>
                    <a:pt x="0" y="5495691"/>
                  </a:cubicBezTo>
                  <a:lnTo>
                    <a:pt x="0" y="672942"/>
                  </a:lnTo>
                  <a:cubicBezTo>
                    <a:pt x="0" y="30128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DF2"/>
            </a:solidFill>
            <a:ln w="9525" cap="sq">
              <a:solidFill>
                <a:srgbClr val="D7B85C"/>
              </a:solidFill>
              <a:prstDash val="solid"/>
              <a:miter/>
            </a:ln>
          </p:spPr>
        </p:sp>
        <p:sp>
          <p:nvSpPr>
            <p:cNvPr id="229" name="TextBox 229"/>
            <p:cNvSpPr txBox="1"/>
            <p:nvPr/>
          </p:nvSpPr>
          <p:spPr>
            <a:xfrm>
              <a:off x="0" y="-38100"/>
              <a:ext cx="5207000" cy="620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0" name="TextBox 230"/>
          <p:cNvSpPr txBox="1"/>
          <p:nvPr/>
        </p:nvSpPr>
        <p:spPr>
          <a:xfrm>
            <a:off x="15868650" y="7489021"/>
            <a:ext cx="2102395" cy="206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▭ entity </a:t>
            </a:r>
          </a:p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 ⬭ attribute  </a:t>
            </a:r>
          </a:p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◇ relationship</a:t>
            </a:r>
          </a:p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     Connection</a:t>
            </a:r>
          </a:p>
          <a:p>
            <a:pPr algn="l">
              <a:lnSpc>
                <a:spcPts val="2392"/>
              </a:lnSpc>
            </a:pPr>
            <a:endParaRPr lang="en-US" sz="1708" b="1">
              <a:solidFill>
                <a:srgbClr val="06340A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1:M One-to-Many</a:t>
            </a:r>
          </a:p>
          <a:p>
            <a:pPr algn="l">
              <a:lnSpc>
                <a:spcPts val="2392"/>
              </a:lnSpc>
            </a:pPr>
            <a:r>
              <a:rPr lang="en-US" sz="1708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o..1 Zero-or-One</a:t>
            </a:r>
          </a:p>
        </p:txBody>
      </p:sp>
      <p:grpSp>
        <p:nvGrpSpPr>
          <p:cNvPr id="231" name="Group 231"/>
          <p:cNvGrpSpPr/>
          <p:nvPr/>
        </p:nvGrpSpPr>
        <p:grpSpPr>
          <a:xfrm>
            <a:off x="15811500" y="2269042"/>
            <a:ext cx="1810007" cy="342949"/>
            <a:chOff x="0" y="0"/>
            <a:chExt cx="2077861" cy="393700"/>
          </a:xfrm>
        </p:grpSpPr>
        <p:sp>
          <p:nvSpPr>
            <p:cNvPr id="232" name="Freeform 232"/>
            <p:cNvSpPr/>
            <p:nvPr/>
          </p:nvSpPr>
          <p:spPr>
            <a:xfrm>
              <a:off x="0" y="0"/>
              <a:ext cx="2077861" cy="393700"/>
            </a:xfrm>
            <a:custGeom>
              <a:avLst/>
              <a:gdLst/>
              <a:ahLst/>
              <a:cxnLst/>
              <a:rect l="l" t="t" r="r" b="b"/>
              <a:pathLst>
                <a:path w="2077861" h="393700">
                  <a:moveTo>
                    <a:pt x="0" y="196850"/>
                  </a:moveTo>
                  <a:cubicBezTo>
                    <a:pt x="0" y="305567"/>
                    <a:pt x="465145" y="393700"/>
                    <a:pt x="1038931" y="393700"/>
                  </a:cubicBezTo>
                  <a:cubicBezTo>
                    <a:pt x="1612716" y="393700"/>
                    <a:pt x="2077861" y="305567"/>
                    <a:pt x="2077861" y="196850"/>
                  </a:cubicBezTo>
                  <a:cubicBezTo>
                    <a:pt x="2077861" y="88133"/>
                    <a:pt x="1612716" y="0"/>
                    <a:pt x="1038931" y="0"/>
                  </a:cubicBezTo>
                  <a:cubicBezTo>
                    <a:pt x="465145" y="0"/>
                    <a:pt x="0" y="88133"/>
                    <a:pt x="0" y="19685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0A91C"/>
              </a:solidFill>
              <a:prstDash val="solid"/>
              <a:miter/>
            </a:ln>
          </p:spPr>
        </p:sp>
        <p:sp>
          <p:nvSpPr>
            <p:cNvPr id="233" name="TextBox 233"/>
            <p:cNvSpPr txBox="1"/>
            <p:nvPr/>
          </p:nvSpPr>
          <p:spPr>
            <a:xfrm>
              <a:off x="0" y="-38100"/>
              <a:ext cx="2077861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4" name="TextBox 234"/>
          <p:cNvSpPr txBox="1"/>
          <p:nvPr/>
        </p:nvSpPr>
        <p:spPr>
          <a:xfrm>
            <a:off x="13710809" y="2355447"/>
            <a:ext cx="1333730" cy="207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recruiter_id (PK)</a:t>
            </a:r>
          </a:p>
        </p:txBody>
      </p:sp>
      <p:sp>
        <p:nvSpPr>
          <p:cNvPr id="235" name="AutoShape 235"/>
          <p:cNvSpPr/>
          <p:nvPr/>
        </p:nvSpPr>
        <p:spPr>
          <a:xfrm flipH="1">
            <a:off x="16201825" y="2597579"/>
            <a:ext cx="878409" cy="355171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6" name="AutoShape 236"/>
          <p:cNvSpPr/>
          <p:nvPr/>
        </p:nvSpPr>
        <p:spPr>
          <a:xfrm flipH="1">
            <a:off x="9601197" y="3181350"/>
            <a:ext cx="2114553" cy="0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7" name="TextBox 237"/>
          <p:cNvSpPr txBox="1"/>
          <p:nvPr/>
        </p:nvSpPr>
        <p:spPr>
          <a:xfrm>
            <a:off x="15954375" y="3726815"/>
            <a:ext cx="138112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email</a:t>
            </a:r>
          </a:p>
        </p:txBody>
      </p:sp>
      <p:sp>
        <p:nvSpPr>
          <p:cNvPr id="238" name="AutoShape 238"/>
          <p:cNvSpPr/>
          <p:nvPr/>
        </p:nvSpPr>
        <p:spPr>
          <a:xfrm flipH="1" flipV="1">
            <a:off x="14273078" y="2657475"/>
            <a:ext cx="745716" cy="295275"/>
          </a:xfrm>
          <a:prstGeom prst="line">
            <a:avLst/>
          </a:prstGeom>
          <a:ln w="1905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9" name="TextBox 239"/>
          <p:cNvSpPr txBox="1"/>
          <p:nvPr/>
        </p:nvSpPr>
        <p:spPr>
          <a:xfrm>
            <a:off x="15811500" y="2328545"/>
            <a:ext cx="1810007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recruiter_name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endParaRPr lang="en-US" sz="1299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40" name="AutoShape 240"/>
          <p:cNvSpPr/>
          <p:nvPr/>
        </p:nvSpPr>
        <p:spPr>
          <a:xfrm flipV="1">
            <a:off x="15851914" y="8534795"/>
            <a:ext cx="204922" cy="0"/>
          </a:xfrm>
          <a:prstGeom prst="line">
            <a:avLst/>
          </a:prstGeom>
          <a:ln w="38100" cap="flat">
            <a:solidFill>
              <a:srgbClr val="426B7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09575"/>
            <a:ext cx="114300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RELATIONAL SCHEMA &amp; DATABASE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20500" y="523875"/>
            <a:ext cx="581025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b="1">
                <a:solidFill>
                  <a:srgbClr val="7B024D"/>
                </a:solidFill>
                <a:latin typeface="DM Sans Bold"/>
                <a:ea typeface="DM Sans Bold"/>
                <a:cs typeface="DM Sans Bold"/>
                <a:sym typeface="DM Sans Bold"/>
              </a:rPr>
              <a:t>ER MODEL → STRUCTURED TABLES</a:t>
            </a:r>
          </a:p>
        </p:txBody>
      </p:sp>
      <p:sp>
        <p:nvSpPr>
          <p:cNvPr id="4" name="AutoShape 4"/>
          <p:cNvSpPr/>
          <p:nvPr/>
        </p:nvSpPr>
        <p:spPr>
          <a:xfrm>
            <a:off x="857250" y="952500"/>
            <a:ext cx="16573500" cy="0"/>
          </a:xfrm>
          <a:prstGeom prst="line">
            <a:avLst/>
          </a:prstGeom>
          <a:ln w="28575" cap="flat">
            <a:solidFill>
              <a:srgbClr val="D7B85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6287750" y="1123950"/>
            <a:ext cx="809625" cy="95250"/>
            <a:chOff x="0" y="0"/>
            <a:chExt cx="10795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9500" cy="127000"/>
            </a:xfrm>
            <a:custGeom>
              <a:avLst/>
              <a:gdLst/>
              <a:ahLst/>
              <a:cxnLst/>
              <a:rect l="l" t="t" r="r" b="b"/>
              <a:pathLst>
                <a:path w="1079500" h="127000">
                  <a:moveTo>
                    <a:pt x="63500" y="0"/>
                  </a:moveTo>
                  <a:lnTo>
                    <a:pt x="1016000" y="0"/>
                  </a:lnTo>
                  <a:cubicBezTo>
                    <a:pt x="1051070" y="0"/>
                    <a:pt x="1079500" y="28430"/>
                    <a:pt x="1079500" y="63500"/>
                  </a:cubicBezTo>
                  <a:cubicBezTo>
                    <a:pt x="1079500" y="98570"/>
                    <a:pt x="1051070" y="127000"/>
                    <a:pt x="101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DD41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795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45000" y="1123950"/>
            <a:ext cx="285750" cy="95250"/>
            <a:chOff x="0" y="0"/>
            <a:chExt cx="381000" cy="12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" cy="127000"/>
            </a:xfrm>
            <a:custGeom>
              <a:avLst/>
              <a:gdLst/>
              <a:ahLst/>
              <a:cxnLst/>
              <a:rect l="l" t="t" r="r" b="b"/>
              <a:pathLst>
                <a:path w="381000" h="127000">
                  <a:moveTo>
                    <a:pt x="63500" y="0"/>
                  </a:moveTo>
                  <a:lnTo>
                    <a:pt x="317500" y="0"/>
                  </a:lnTo>
                  <a:cubicBezTo>
                    <a:pt x="352570" y="0"/>
                    <a:pt x="381000" y="28430"/>
                    <a:pt x="381000" y="63500"/>
                  </a:cubicBezTo>
                  <a:cubicBezTo>
                    <a:pt x="381000" y="98570"/>
                    <a:pt x="352570" y="127000"/>
                    <a:pt x="3175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B53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81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1428750"/>
            <a:ext cx="4127595" cy="2357969"/>
            <a:chOff x="0" y="0"/>
            <a:chExt cx="5080000" cy="29020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0000" cy="2902049"/>
            </a:xfrm>
            <a:custGeom>
              <a:avLst/>
              <a:gdLst/>
              <a:ahLst/>
              <a:cxnLst/>
              <a:rect l="l" t="t" r="r" b="b"/>
              <a:pathLst>
                <a:path w="5080000" h="2902049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107528"/>
                    <a:pt x="5080000" y="240170"/>
                  </a:cubicBezTo>
                  <a:lnTo>
                    <a:pt x="5080000" y="2661879"/>
                  </a:lnTo>
                  <a:cubicBezTo>
                    <a:pt x="5080000" y="2794521"/>
                    <a:pt x="5011768" y="2902049"/>
                    <a:pt x="4927600" y="2902049"/>
                  </a:cubicBezTo>
                  <a:lnTo>
                    <a:pt x="152400" y="2902049"/>
                  </a:lnTo>
                  <a:cubicBezTo>
                    <a:pt x="68232" y="2902049"/>
                    <a:pt x="0" y="2794521"/>
                    <a:pt x="0" y="2661879"/>
                  </a:cubicBezTo>
                  <a:lnTo>
                    <a:pt x="0" y="240170"/>
                  </a:lnTo>
                  <a:cubicBezTo>
                    <a:pt x="0" y="107528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80000" cy="2940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1428750"/>
            <a:ext cx="3810000" cy="381000"/>
            <a:chOff x="0" y="0"/>
            <a:chExt cx="5080000" cy="50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1495425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001574"/>
            <a:ext cx="3984477" cy="1313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35" b="1" i="1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Department ID uniquely identifies each department, while department name stores the name of the department.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143500" y="1428750"/>
            <a:ext cx="4000500" cy="2357969"/>
            <a:chOff x="0" y="0"/>
            <a:chExt cx="5080000" cy="29942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00" cy="2994246"/>
            </a:xfrm>
            <a:custGeom>
              <a:avLst/>
              <a:gdLst/>
              <a:ahLst/>
              <a:cxnLst/>
              <a:rect l="l" t="t" r="r" b="b"/>
              <a:pathLst>
                <a:path w="5080000" h="2994246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82497"/>
                    <a:pt x="5080000" y="184261"/>
                  </a:cubicBezTo>
                  <a:lnTo>
                    <a:pt x="5080000" y="2809985"/>
                  </a:lnTo>
                  <a:cubicBezTo>
                    <a:pt x="5080000" y="2911749"/>
                    <a:pt x="5011768" y="2994246"/>
                    <a:pt x="4927600" y="2994246"/>
                  </a:cubicBezTo>
                  <a:lnTo>
                    <a:pt x="152400" y="2994246"/>
                  </a:lnTo>
                  <a:cubicBezTo>
                    <a:pt x="68232" y="2994246"/>
                    <a:pt x="0" y="2911749"/>
                    <a:pt x="0" y="2809985"/>
                  </a:cubicBezTo>
                  <a:lnTo>
                    <a:pt x="0" y="184261"/>
                  </a:lnTo>
                  <a:cubicBezTo>
                    <a:pt x="0" y="82497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80000" cy="3032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0" y="1428750"/>
            <a:ext cx="3810000" cy="381000"/>
            <a:chOff x="0" y="0"/>
            <a:chExt cx="5080000" cy="50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295900" y="1495425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RECRUITER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52996" y="1952625"/>
            <a:ext cx="3700504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707" b="1" i="1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Recruiter ID uniquely identifies each recruiter, while recruiter name, email, and phone store the recruiter’s basic details and contact information.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29750" y="1428750"/>
            <a:ext cx="4457700" cy="2357969"/>
            <a:chOff x="0" y="0"/>
            <a:chExt cx="5943600" cy="31439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43600" cy="3143958"/>
            </a:xfrm>
            <a:custGeom>
              <a:avLst/>
              <a:gdLst/>
              <a:ahLst/>
              <a:cxnLst/>
              <a:rect l="l" t="t" r="r" b="b"/>
              <a:pathLst>
                <a:path w="5943600" h="3143958">
                  <a:moveTo>
                    <a:pt x="178308" y="0"/>
                  </a:moveTo>
                  <a:lnTo>
                    <a:pt x="5765292" y="0"/>
                  </a:lnTo>
                  <a:cubicBezTo>
                    <a:pt x="5863769" y="0"/>
                    <a:pt x="5943600" y="68944"/>
                    <a:pt x="5943600" y="153990"/>
                  </a:cubicBezTo>
                  <a:lnTo>
                    <a:pt x="5943600" y="2989969"/>
                  </a:lnTo>
                  <a:cubicBezTo>
                    <a:pt x="5943600" y="3075015"/>
                    <a:pt x="5863769" y="3143958"/>
                    <a:pt x="5765292" y="3143958"/>
                  </a:cubicBezTo>
                  <a:lnTo>
                    <a:pt x="178308" y="3143958"/>
                  </a:lnTo>
                  <a:cubicBezTo>
                    <a:pt x="79831" y="3143958"/>
                    <a:pt x="0" y="3075015"/>
                    <a:pt x="0" y="2989969"/>
                  </a:cubicBezTo>
                  <a:lnTo>
                    <a:pt x="0" y="153990"/>
                  </a:lnTo>
                  <a:cubicBezTo>
                    <a:pt x="0" y="68944"/>
                    <a:pt x="79831" y="0"/>
                    <a:pt x="178308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943600" cy="3182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29750" y="1428750"/>
            <a:ext cx="4286250" cy="428625"/>
            <a:chOff x="0" y="0"/>
            <a:chExt cx="5080000" cy="508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582150" y="1495425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JOB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1200" y="1943100"/>
            <a:ext cx="4114800" cy="161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898" b="1" i="1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Job ID uniquely identifies each job, while job title, department ID, recruiter ID, openings, salary, and job status store the job position and its related details.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57250" y="4619625"/>
            <a:ext cx="3924944" cy="3059441"/>
            <a:chOff x="0" y="0"/>
            <a:chExt cx="5080000" cy="39597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00" cy="3959792"/>
            </a:xfrm>
            <a:custGeom>
              <a:avLst/>
              <a:gdLst/>
              <a:ahLst/>
              <a:cxnLst/>
              <a:rect l="l" t="t" r="r" b="b"/>
              <a:pathLst>
                <a:path w="5080000" h="3959792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96701"/>
                    <a:pt x="5080000" y="215989"/>
                  </a:cubicBezTo>
                  <a:lnTo>
                    <a:pt x="5080000" y="3743803"/>
                  </a:lnTo>
                  <a:cubicBezTo>
                    <a:pt x="5080000" y="3863090"/>
                    <a:pt x="5011768" y="3959792"/>
                    <a:pt x="4927600" y="3959792"/>
                  </a:cubicBezTo>
                  <a:lnTo>
                    <a:pt x="152400" y="3959792"/>
                  </a:lnTo>
                  <a:cubicBezTo>
                    <a:pt x="68232" y="3959792"/>
                    <a:pt x="0" y="3863090"/>
                    <a:pt x="0" y="3743803"/>
                  </a:cubicBezTo>
                  <a:lnTo>
                    <a:pt x="0" y="215989"/>
                  </a:lnTo>
                  <a:cubicBezTo>
                    <a:pt x="0" y="96701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080000" cy="3997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7250" y="4619625"/>
            <a:ext cx="3810000" cy="381000"/>
            <a:chOff x="0" y="0"/>
            <a:chExt cx="5080000" cy="508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09650" y="4686300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5153025"/>
            <a:ext cx="3161859" cy="204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  <a:spcBef>
                <a:spcPct val="0"/>
              </a:spcBef>
            </a:pPr>
            <a:r>
              <a:rPr lang="en-US" sz="1731" b="1" i="1" u="none" strike="noStrike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Applicant ID uniquely identifies each applicant, while applicant name, email, phone, qualification, and experience years store the applicant’s personal and professional details.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143500" y="4619625"/>
            <a:ext cx="3891280" cy="3059441"/>
            <a:chOff x="0" y="0"/>
            <a:chExt cx="5080000" cy="399404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80000" cy="3994048"/>
            </a:xfrm>
            <a:custGeom>
              <a:avLst/>
              <a:gdLst/>
              <a:ahLst/>
              <a:cxnLst/>
              <a:rect l="l" t="t" r="r" b="b"/>
              <a:pathLst>
                <a:path w="5080000" h="3994048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110043"/>
                    <a:pt x="5080000" y="245788"/>
                  </a:cubicBezTo>
                  <a:lnTo>
                    <a:pt x="5080000" y="3748261"/>
                  </a:lnTo>
                  <a:cubicBezTo>
                    <a:pt x="5080000" y="3884005"/>
                    <a:pt x="5011768" y="3994048"/>
                    <a:pt x="4927600" y="3994048"/>
                  </a:cubicBezTo>
                  <a:lnTo>
                    <a:pt x="152400" y="3994048"/>
                  </a:lnTo>
                  <a:cubicBezTo>
                    <a:pt x="68232" y="3994048"/>
                    <a:pt x="0" y="3884005"/>
                    <a:pt x="0" y="3748261"/>
                  </a:cubicBezTo>
                  <a:lnTo>
                    <a:pt x="0" y="245788"/>
                  </a:lnTo>
                  <a:cubicBezTo>
                    <a:pt x="0" y="11004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080000" cy="4032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143500" y="4619625"/>
            <a:ext cx="3810000" cy="381000"/>
            <a:chOff x="0" y="0"/>
            <a:chExt cx="5080000" cy="508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B534B"/>
            </a:solidFill>
            <a:ln w="19050" cap="sq">
              <a:solidFill>
                <a:srgbClr val="EB534B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295900" y="4686300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14950" y="5153025"/>
            <a:ext cx="3467100" cy="204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  <a:spcBef>
                <a:spcPct val="0"/>
              </a:spcBef>
            </a:pPr>
            <a:r>
              <a:rPr lang="en-US" sz="1731" b="1" i="1" u="none" strike="noStrike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Application ID uniquely identifies each application, while applicant ID and job ID connect the application to the applicant and job, and application date and status store its current details.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429750" y="4619625"/>
            <a:ext cx="3810000" cy="3059441"/>
            <a:chOff x="0" y="0"/>
            <a:chExt cx="5080000" cy="407925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80000" cy="4079255"/>
            </a:xfrm>
            <a:custGeom>
              <a:avLst/>
              <a:gdLst/>
              <a:ahLst/>
              <a:cxnLst/>
              <a:rect l="l" t="t" r="r" b="b"/>
              <a:pathLst>
                <a:path w="5080000" h="4079255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112390"/>
                    <a:pt x="5080000" y="251031"/>
                  </a:cubicBezTo>
                  <a:lnTo>
                    <a:pt x="5080000" y="3828224"/>
                  </a:lnTo>
                  <a:cubicBezTo>
                    <a:pt x="5080000" y="3966864"/>
                    <a:pt x="5011768" y="4079255"/>
                    <a:pt x="4927600" y="4079255"/>
                  </a:cubicBezTo>
                  <a:lnTo>
                    <a:pt x="152400" y="4079255"/>
                  </a:lnTo>
                  <a:cubicBezTo>
                    <a:pt x="68232" y="4079255"/>
                    <a:pt x="0" y="3966864"/>
                    <a:pt x="0" y="3828224"/>
                  </a:cubicBezTo>
                  <a:lnTo>
                    <a:pt x="0" y="251031"/>
                  </a:lnTo>
                  <a:cubicBezTo>
                    <a:pt x="0" y="112390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5080000" cy="41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429750" y="4619625"/>
            <a:ext cx="3810000" cy="381000"/>
            <a:chOff x="0" y="0"/>
            <a:chExt cx="5080000" cy="508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080000" cy="508000"/>
            </a:xfrm>
            <a:custGeom>
              <a:avLst/>
              <a:gdLst/>
              <a:ahLst/>
              <a:cxnLst/>
              <a:rect l="l" t="t" r="r" b="b"/>
              <a:pathLst>
                <a:path w="5080000" h="508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355600"/>
                  </a:lnTo>
                  <a:cubicBezTo>
                    <a:pt x="5080000" y="439768"/>
                    <a:pt x="5011768" y="508000"/>
                    <a:pt x="4927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508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582150" y="4686300"/>
            <a:ext cx="3505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01200" y="5153025"/>
            <a:ext cx="3467100" cy="204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  <a:spcBef>
                <a:spcPct val="0"/>
              </a:spcBef>
            </a:pPr>
            <a:r>
              <a:rPr lang="en-US" sz="1731" b="1" i="1" u="none" strike="noStrike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Interview ID uniquely identifies each interview, while application ID connects it to an application, and interview date, interview mode, and interview result store the interview details.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3716000" y="4619625"/>
            <a:ext cx="3714750" cy="3059441"/>
            <a:chOff x="0" y="0"/>
            <a:chExt cx="4953000" cy="407925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953000" cy="4079255"/>
            </a:xfrm>
            <a:custGeom>
              <a:avLst/>
              <a:gdLst/>
              <a:ahLst/>
              <a:cxnLst/>
              <a:rect l="l" t="t" r="r" b="b"/>
              <a:pathLst>
                <a:path w="4953000" h="4079255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112390"/>
                    <a:pt x="4953000" y="251031"/>
                  </a:cubicBezTo>
                  <a:lnTo>
                    <a:pt x="4953000" y="3828224"/>
                  </a:lnTo>
                  <a:cubicBezTo>
                    <a:pt x="4953000" y="3966864"/>
                    <a:pt x="4884768" y="4079255"/>
                    <a:pt x="4800600" y="4079255"/>
                  </a:cubicBezTo>
                  <a:lnTo>
                    <a:pt x="152400" y="4079255"/>
                  </a:lnTo>
                  <a:cubicBezTo>
                    <a:pt x="68232" y="4079255"/>
                    <a:pt x="0" y="3966864"/>
                    <a:pt x="0" y="3828224"/>
                  </a:cubicBezTo>
                  <a:lnTo>
                    <a:pt x="0" y="251031"/>
                  </a:lnTo>
                  <a:cubicBezTo>
                    <a:pt x="0" y="112390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953000" cy="41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716000" y="4619625"/>
            <a:ext cx="3714750" cy="381000"/>
            <a:chOff x="0" y="0"/>
            <a:chExt cx="4953000" cy="508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953000" cy="508000"/>
            </a:xfrm>
            <a:custGeom>
              <a:avLst/>
              <a:gdLst/>
              <a:ahLst/>
              <a:cxnLst/>
              <a:rect l="l" t="t" r="r" b="b"/>
              <a:pathLst>
                <a:path w="4953000" h="5080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355600"/>
                  </a:lnTo>
                  <a:cubicBezTo>
                    <a:pt x="4953000" y="439768"/>
                    <a:pt x="4884768" y="508000"/>
                    <a:pt x="4800600" y="508000"/>
                  </a:cubicBezTo>
                  <a:lnTo>
                    <a:pt x="152400" y="508000"/>
                  </a:lnTo>
                  <a:cubicBezTo>
                    <a:pt x="68232" y="508000"/>
                    <a:pt x="0" y="439768"/>
                    <a:pt x="0" y="355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6F95"/>
            </a:solidFill>
            <a:ln w="19050" cap="sq">
              <a:solidFill>
                <a:srgbClr val="2E6F95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953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3868400" y="4686300"/>
            <a:ext cx="34099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87450" y="5153025"/>
            <a:ext cx="3323162" cy="204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  <a:spcBef>
                <a:spcPct val="0"/>
              </a:spcBef>
            </a:pPr>
            <a:r>
              <a:rPr lang="en-US" sz="1731" b="1" i="1" u="none" strike="noStrike">
                <a:solidFill>
                  <a:srgbClr val="7B024D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Selection ID uniquely identifies each selection record, while application ID connects it to the related application, and selection date and decision store the final selection details.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857250" y="8096250"/>
            <a:ext cx="16573500" cy="857250"/>
            <a:chOff x="0" y="0"/>
            <a:chExt cx="22098000" cy="11430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098000" cy="1143000"/>
            </a:xfrm>
            <a:custGeom>
              <a:avLst/>
              <a:gdLst/>
              <a:ahLst/>
              <a:cxnLst/>
              <a:rect l="l" t="t" r="r" b="b"/>
              <a:pathLst>
                <a:path w="22098000" h="1143000">
                  <a:moveTo>
                    <a:pt x="127000" y="0"/>
                  </a:moveTo>
                  <a:lnTo>
                    <a:pt x="21971000" y="0"/>
                  </a:lnTo>
                  <a:cubicBezTo>
                    <a:pt x="22041140" y="0"/>
                    <a:pt x="22098000" y="56860"/>
                    <a:pt x="22098000" y="127000"/>
                  </a:cubicBezTo>
                  <a:lnTo>
                    <a:pt x="22098000" y="1016000"/>
                  </a:lnTo>
                  <a:cubicBezTo>
                    <a:pt x="22098000" y="1086140"/>
                    <a:pt x="22041140" y="1143000"/>
                    <a:pt x="21971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D7B85C"/>
              </a:solidFill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2098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90625" y="8362950"/>
            <a:ext cx="158115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Each table uses primary and foreign keys to establish relationships and maintain data integrity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09575"/>
            <a:ext cx="114300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TABLES, KEYS &amp; CONSTRAINTS</a:t>
            </a:r>
          </a:p>
        </p:txBody>
      </p:sp>
      <p:sp>
        <p:nvSpPr>
          <p:cNvPr id="3" name="AutoShape 3"/>
          <p:cNvSpPr/>
          <p:nvPr/>
        </p:nvSpPr>
        <p:spPr>
          <a:xfrm>
            <a:off x="857250" y="952500"/>
            <a:ext cx="16573500" cy="0"/>
          </a:xfrm>
          <a:prstGeom prst="line">
            <a:avLst/>
          </a:prstGeom>
          <a:ln w="28575" cap="flat">
            <a:solidFill>
              <a:srgbClr val="D7B85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287750" y="1123950"/>
            <a:ext cx="809625" cy="95250"/>
            <a:chOff x="0" y="0"/>
            <a:chExt cx="1079500" cy="12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9500" cy="127000"/>
            </a:xfrm>
            <a:custGeom>
              <a:avLst/>
              <a:gdLst/>
              <a:ahLst/>
              <a:cxnLst/>
              <a:rect l="l" t="t" r="r" b="b"/>
              <a:pathLst>
                <a:path w="1079500" h="127000">
                  <a:moveTo>
                    <a:pt x="63500" y="0"/>
                  </a:moveTo>
                  <a:lnTo>
                    <a:pt x="1016000" y="0"/>
                  </a:lnTo>
                  <a:cubicBezTo>
                    <a:pt x="1051070" y="0"/>
                    <a:pt x="1079500" y="28430"/>
                    <a:pt x="1079500" y="63500"/>
                  </a:cubicBezTo>
                  <a:cubicBezTo>
                    <a:pt x="1079500" y="98570"/>
                    <a:pt x="1051070" y="127000"/>
                    <a:pt x="101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DD41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795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0" y="1123950"/>
            <a:ext cx="285750" cy="95250"/>
            <a:chOff x="0" y="0"/>
            <a:chExt cx="381000" cy="12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0" cy="127000"/>
            </a:xfrm>
            <a:custGeom>
              <a:avLst/>
              <a:gdLst/>
              <a:ahLst/>
              <a:cxnLst/>
              <a:rect l="l" t="t" r="r" b="b"/>
              <a:pathLst>
                <a:path w="381000" h="127000">
                  <a:moveTo>
                    <a:pt x="63500" y="0"/>
                  </a:moveTo>
                  <a:lnTo>
                    <a:pt x="317500" y="0"/>
                  </a:lnTo>
                  <a:cubicBezTo>
                    <a:pt x="352570" y="0"/>
                    <a:pt x="381000" y="28430"/>
                    <a:pt x="381000" y="63500"/>
                  </a:cubicBezTo>
                  <a:cubicBezTo>
                    <a:pt x="381000" y="98570"/>
                    <a:pt x="352570" y="127000"/>
                    <a:pt x="3175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B53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81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1809750"/>
            <a:ext cx="16002000" cy="647700"/>
            <a:chOff x="0" y="0"/>
            <a:chExt cx="21336000" cy="863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36000" cy="863600"/>
            </a:xfrm>
            <a:custGeom>
              <a:avLst/>
              <a:gdLst/>
              <a:ahLst/>
              <a:cxnLst/>
              <a:rect l="l" t="t" r="r" b="b"/>
              <a:pathLst>
                <a:path w="21336000" h="8636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736600"/>
                  </a:lnTo>
                  <a:cubicBezTo>
                    <a:pt x="21336000" y="806740"/>
                    <a:pt x="21279140" y="863600"/>
                    <a:pt x="21209000" y="863600"/>
                  </a:cubicBezTo>
                  <a:lnTo>
                    <a:pt x="127000" y="863600"/>
                  </a:lnTo>
                  <a:cubicBezTo>
                    <a:pt x="56860" y="863600"/>
                    <a:pt x="0" y="806740"/>
                    <a:pt x="0" y="736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B024D"/>
            </a:solidFill>
            <a:ln w="19050" cap="sq">
              <a:solidFill>
                <a:srgbClr val="7B024D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360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19250" y="1981200"/>
            <a:ext cx="53340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CONSTRAINT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72500" y="1981200"/>
            <a:ext cx="68580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EXAMPLE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3000" y="2457450"/>
            <a:ext cx="16002000" cy="876300"/>
            <a:chOff x="0" y="0"/>
            <a:chExt cx="21336000" cy="1168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DF2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19250" y="27146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PRIMARY KEY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0" y="27146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applicant_id uniquely identifies an applicant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43000" y="3333750"/>
            <a:ext cx="16002000" cy="876300"/>
            <a:chOff x="0" y="0"/>
            <a:chExt cx="21336000" cy="1168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4F0D7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19250" y="35909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FOREIGN KEY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2500" y="35909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department_id links JOB to DEPARTMENT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43000" y="4210050"/>
            <a:ext cx="16002000" cy="876300"/>
            <a:chOff x="0" y="0"/>
            <a:chExt cx="21336000" cy="1168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DF2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19250" y="44672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NOT NULL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2500" y="44672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applicant_name is required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43000" y="5086350"/>
            <a:ext cx="16002000" cy="876300"/>
            <a:chOff x="0" y="0"/>
            <a:chExt cx="21336000" cy="1168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4F0D7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19250" y="53435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UNIQUE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72500" y="53435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email must be unique for each applicant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43000" y="5962650"/>
            <a:ext cx="16002000" cy="876300"/>
            <a:chOff x="0" y="0"/>
            <a:chExt cx="21336000" cy="1168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DF2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619250" y="62198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CHECK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72500" y="62198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experience_years &gt;= 0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143000" y="6838950"/>
            <a:ext cx="16002000" cy="876300"/>
            <a:chOff x="0" y="0"/>
            <a:chExt cx="21336000" cy="1168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336000" cy="1168400"/>
            </a:xfrm>
            <a:custGeom>
              <a:avLst/>
              <a:gdLst/>
              <a:ahLst/>
              <a:cxnLst/>
              <a:rect l="l" t="t" r="r" b="b"/>
              <a:pathLst>
                <a:path w="21336000" h="11684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4F0D7"/>
            </a:solidFill>
            <a:ln w="9525" cap="sq">
              <a:solidFill>
                <a:srgbClr val="E0D7AF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619250" y="7096125"/>
            <a:ext cx="53340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3B1B72"/>
                </a:solidFill>
                <a:latin typeface="DM Sans Bold"/>
                <a:ea typeface="DM Sans Bold"/>
                <a:cs typeface="DM Sans Bold"/>
                <a:sym typeface="DM Sans Bold"/>
              </a:rPr>
              <a:t>DEFAULT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72500" y="7096125"/>
            <a:ext cx="742950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status starts as 'Pending'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43000" y="8096250"/>
            <a:ext cx="16002000" cy="857250"/>
            <a:chOff x="0" y="0"/>
            <a:chExt cx="21336000" cy="1143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336000" cy="1143000"/>
            </a:xfrm>
            <a:custGeom>
              <a:avLst/>
              <a:gdLst/>
              <a:ahLst/>
              <a:cxnLst/>
              <a:rect l="l" t="t" r="r" b="b"/>
              <a:pathLst>
                <a:path w="21336000" h="1143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016000"/>
                  </a:lnTo>
                  <a:cubicBezTo>
                    <a:pt x="21336000" y="1086140"/>
                    <a:pt x="21279140" y="1143000"/>
                    <a:pt x="21209000" y="1143000"/>
                  </a:cubicBezTo>
                  <a:lnTo>
                    <a:pt x="127000" y="1143000"/>
                  </a:lnTo>
                  <a:cubicBezTo>
                    <a:pt x="56860" y="1143000"/>
                    <a:pt x="0" y="1086140"/>
                    <a:pt x="0" y="1016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DF2"/>
            </a:solidFill>
            <a:ln w="19050" cap="sq">
              <a:solidFill>
                <a:srgbClr val="FDD41C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1336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524000" y="8362950"/>
            <a:ext cx="142875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6340A"/>
                </a:solidFill>
                <a:latin typeface="DM Sans Bold"/>
                <a:ea typeface="DM Sans Bold"/>
                <a:cs typeface="DM Sans Bold"/>
                <a:sym typeface="DM Sans Bold"/>
              </a:rPr>
              <a:t>These constraints maintain data integrity and consistency throughout the recruitment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" y="1504950"/>
            <a:ext cx="16573500" cy="0"/>
          </a:xfrm>
          <a:prstGeom prst="line">
            <a:avLst/>
          </a:prstGeom>
          <a:ln w="19050" cap="flat">
            <a:solidFill>
              <a:srgbClr val="B8C8C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57250" y="2190750"/>
            <a:ext cx="4953000" cy="4781196"/>
            <a:chOff x="0" y="0"/>
            <a:chExt cx="6604000" cy="63749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0" cy="6374928"/>
            </a:xfrm>
            <a:custGeom>
              <a:avLst/>
              <a:gdLst/>
              <a:ahLst/>
              <a:cxnLst/>
              <a:rect l="l" t="t" r="r" b="b"/>
              <a:pathLst>
                <a:path w="6604000" h="6374928">
                  <a:moveTo>
                    <a:pt x="152400" y="0"/>
                  </a:moveTo>
                  <a:lnTo>
                    <a:pt x="6451600" y="0"/>
                  </a:lnTo>
                  <a:cubicBezTo>
                    <a:pt x="6535769" y="0"/>
                    <a:pt x="6604000" y="90131"/>
                    <a:pt x="6604000" y="201314"/>
                  </a:cubicBezTo>
                  <a:lnTo>
                    <a:pt x="6604000" y="6173615"/>
                  </a:lnTo>
                  <a:cubicBezTo>
                    <a:pt x="6604000" y="6284797"/>
                    <a:pt x="6535769" y="6374928"/>
                    <a:pt x="6451600" y="6374928"/>
                  </a:cubicBezTo>
                  <a:lnTo>
                    <a:pt x="152400" y="6374928"/>
                  </a:lnTo>
                  <a:cubicBezTo>
                    <a:pt x="68232" y="6374928"/>
                    <a:pt x="0" y="6284797"/>
                    <a:pt x="0" y="6173615"/>
                  </a:cubicBezTo>
                  <a:lnTo>
                    <a:pt x="0" y="201314"/>
                  </a:lnTo>
                  <a:cubicBezTo>
                    <a:pt x="0" y="90131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0" cy="6413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191250" y="2190750"/>
            <a:ext cx="4953000" cy="4781196"/>
            <a:chOff x="0" y="0"/>
            <a:chExt cx="6604000" cy="6374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0" cy="6374928"/>
            </a:xfrm>
            <a:custGeom>
              <a:avLst/>
              <a:gdLst/>
              <a:ahLst/>
              <a:cxnLst/>
              <a:rect l="l" t="t" r="r" b="b"/>
              <a:pathLst>
                <a:path w="6604000" h="6374928">
                  <a:moveTo>
                    <a:pt x="152400" y="0"/>
                  </a:moveTo>
                  <a:lnTo>
                    <a:pt x="6451600" y="0"/>
                  </a:lnTo>
                  <a:cubicBezTo>
                    <a:pt x="6535769" y="0"/>
                    <a:pt x="6604000" y="90131"/>
                    <a:pt x="6604000" y="201314"/>
                  </a:cubicBezTo>
                  <a:lnTo>
                    <a:pt x="6604000" y="6173615"/>
                  </a:lnTo>
                  <a:cubicBezTo>
                    <a:pt x="6604000" y="6284797"/>
                    <a:pt x="6535769" y="6374928"/>
                    <a:pt x="6451600" y="6374928"/>
                  </a:cubicBezTo>
                  <a:lnTo>
                    <a:pt x="152400" y="6374928"/>
                  </a:lnTo>
                  <a:cubicBezTo>
                    <a:pt x="68232" y="6374928"/>
                    <a:pt x="0" y="6284797"/>
                    <a:pt x="0" y="6173615"/>
                  </a:cubicBezTo>
                  <a:lnTo>
                    <a:pt x="0" y="201314"/>
                  </a:lnTo>
                  <a:cubicBezTo>
                    <a:pt x="0" y="90131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0" cy="6413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25250" y="2190750"/>
            <a:ext cx="4953000" cy="4781196"/>
            <a:chOff x="0" y="0"/>
            <a:chExt cx="6604000" cy="63749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0" cy="6374928"/>
            </a:xfrm>
            <a:custGeom>
              <a:avLst/>
              <a:gdLst/>
              <a:ahLst/>
              <a:cxnLst/>
              <a:rect l="l" t="t" r="r" b="b"/>
              <a:pathLst>
                <a:path w="6604000" h="6374928">
                  <a:moveTo>
                    <a:pt x="152400" y="0"/>
                  </a:moveTo>
                  <a:lnTo>
                    <a:pt x="6451600" y="0"/>
                  </a:lnTo>
                  <a:cubicBezTo>
                    <a:pt x="6535769" y="0"/>
                    <a:pt x="6604000" y="90131"/>
                    <a:pt x="6604000" y="201314"/>
                  </a:cubicBezTo>
                  <a:lnTo>
                    <a:pt x="6604000" y="6173615"/>
                  </a:lnTo>
                  <a:cubicBezTo>
                    <a:pt x="6604000" y="6284797"/>
                    <a:pt x="6535769" y="6374928"/>
                    <a:pt x="6451600" y="6374928"/>
                  </a:cubicBezTo>
                  <a:lnTo>
                    <a:pt x="152400" y="6374928"/>
                  </a:lnTo>
                  <a:cubicBezTo>
                    <a:pt x="68232" y="6374928"/>
                    <a:pt x="0" y="6284797"/>
                    <a:pt x="0" y="6173615"/>
                  </a:cubicBezTo>
                  <a:lnTo>
                    <a:pt x="0" y="201314"/>
                  </a:lnTo>
                  <a:cubicBezTo>
                    <a:pt x="0" y="90131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604000" cy="6413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57250" y="876300"/>
            <a:ext cx="11430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17212B"/>
                </a:solidFill>
                <a:latin typeface="DM Sans Bold"/>
                <a:ea typeface="DM Sans Bold"/>
                <a:cs typeface="DM Sans Bold"/>
                <a:sym typeface="DM Sans Bold"/>
              </a:rPr>
              <a:t>SQL 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5850" y="2371725"/>
            <a:ext cx="44767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C9785D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5850" y="2991289"/>
            <a:ext cx="4295775" cy="310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CREATE TABLE APPLICANT (</a:t>
            </a:r>
          </a:p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  applicant_id INT PRIMARY KEY,</a:t>
            </a:r>
          </a:p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  applicant_name VARCHAR(80) NOT NULL,</a:t>
            </a:r>
          </a:p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  email VARCHAR(120) UNIQUE,</a:t>
            </a:r>
          </a:p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   experience_years INT CHECK (experience_years &gt;= 0)</a:t>
            </a:r>
          </a:p>
          <a:p>
            <a:pPr algn="l">
              <a:lnSpc>
                <a:spcPts val="2474"/>
              </a:lnSpc>
            </a:pPr>
            <a:r>
              <a:rPr lang="en-US" sz="183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 );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9850" y="2371725"/>
            <a:ext cx="44767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C9785D"/>
                </a:solidFill>
                <a:latin typeface="DM Sans Bold"/>
                <a:ea typeface="DM Sans Bold"/>
                <a:cs typeface="DM Sans Bold"/>
                <a:sym typeface="DM Sans Bold"/>
              </a:rPr>
              <a:t>JOB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9850" y="2790825"/>
            <a:ext cx="4634673" cy="330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CREATE TABLE JOB (</a:t>
            </a:r>
          </a:p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  job_id INT PRIMARY KEY,</a:t>
            </a:r>
          </a:p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  title VARCHAR(100) NOT NULL,</a:t>
            </a:r>
          </a:p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  department_id INT, recruiter_id INT,</a:t>
            </a:r>
          </a:p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   FOREIGN KEY (department_id) REFERENCES DEPARTMENT(department_id)</a:t>
            </a:r>
          </a:p>
          <a:p>
            <a:pPr algn="l">
              <a:lnSpc>
                <a:spcPts val="2635"/>
              </a:lnSpc>
            </a:pPr>
            <a:r>
              <a:rPr lang="en-US" sz="195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 );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53850" y="2371725"/>
            <a:ext cx="44767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C9785D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53850" y="2790825"/>
            <a:ext cx="3866648" cy="365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CREATE TABLE APPLICATION (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  application_id INT PRIMARY KEY,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  applicant_id INT, job_id INT,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  application_status VARCHAR(20) DEFAULT 'Pending',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   FOREIGN KEY (applicant_id) REFERENCES APPLICANT(applicant_id),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   FOREIGN KEY (job_id) REFERENCES JOB(job_id)</a:t>
            </a:r>
          </a:p>
          <a:p>
            <a:pPr algn="l">
              <a:lnSpc>
                <a:spcPts val="2241"/>
              </a:lnSpc>
            </a:pPr>
            <a:r>
              <a:rPr lang="en-US" sz="166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 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876300"/>
            <a:ext cx="11430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17212B"/>
                </a:solidFill>
                <a:latin typeface="DM Sans Bold"/>
                <a:ea typeface="DM Sans Bold"/>
                <a:cs typeface="DM Sans Bold"/>
                <a:sym typeface="DM Sans Bold"/>
              </a:rPr>
              <a:t>SQL query execution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857250" y="1504950"/>
            <a:ext cx="16573500" cy="0"/>
          </a:xfrm>
          <a:prstGeom prst="line">
            <a:avLst/>
          </a:prstGeom>
          <a:ln w="19050" cap="flat">
            <a:solidFill>
              <a:srgbClr val="B8C8C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57250" y="2095500"/>
            <a:ext cx="16573500" cy="2095500"/>
            <a:chOff x="0" y="0"/>
            <a:chExt cx="22098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2794000"/>
            </a:xfrm>
            <a:custGeom>
              <a:avLst/>
              <a:gdLst/>
              <a:ahLst/>
              <a:cxnLst/>
              <a:rect l="l" t="t" r="r" b="b"/>
              <a:pathLst>
                <a:path w="22098000" h="2794000">
                  <a:moveTo>
                    <a:pt x="127000" y="0"/>
                  </a:moveTo>
                  <a:lnTo>
                    <a:pt x="21971000" y="0"/>
                  </a:lnTo>
                  <a:cubicBezTo>
                    <a:pt x="22041140" y="0"/>
                    <a:pt x="22098000" y="56860"/>
                    <a:pt x="22098000" y="127000"/>
                  </a:cubicBezTo>
                  <a:lnTo>
                    <a:pt x="22098000" y="2667000"/>
                  </a:lnTo>
                  <a:cubicBezTo>
                    <a:pt x="22098000" y="2737140"/>
                    <a:pt x="22041140" y="2794000"/>
                    <a:pt x="21971000" y="2794000"/>
                  </a:cubicBezTo>
                  <a:lnTo>
                    <a:pt x="127000" y="2794000"/>
                  </a:lnTo>
                  <a:cubicBezTo>
                    <a:pt x="56860" y="2794000"/>
                    <a:pt x="0" y="2737140"/>
                    <a:pt x="0" y="2667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83B4E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098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2324100"/>
            <a:ext cx="1238250" cy="323850"/>
            <a:chOff x="0" y="0"/>
            <a:chExt cx="1651000" cy="431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51000" cy="431800"/>
            </a:xfrm>
            <a:custGeom>
              <a:avLst/>
              <a:gdLst/>
              <a:ahLst/>
              <a:cxnLst/>
              <a:rect l="l" t="t" r="r" b="b"/>
              <a:pathLst>
                <a:path w="1651000" h="431800">
                  <a:moveTo>
                    <a:pt x="215900" y="0"/>
                  </a:moveTo>
                  <a:lnTo>
                    <a:pt x="1435100" y="0"/>
                  </a:lnTo>
                  <a:cubicBezTo>
                    <a:pt x="1554338" y="0"/>
                    <a:pt x="1651000" y="96662"/>
                    <a:pt x="1651000" y="215900"/>
                  </a:cubicBezTo>
                  <a:cubicBezTo>
                    <a:pt x="1651000" y="335138"/>
                    <a:pt x="1554338" y="431800"/>
                    <a:pt x="1435100" y="431800"/>
                  </a:cubicBezTo>
                  <a:lnTo>
                    <a:pt x="215900" y="431800"/>
                  </a:lnTo>
                  <a:cubicBezTo>
                    <a:pt x="96662" y="431800"/>
                    <a:pt x="0" y="335138"/>
                    <a:pt x="0" y="215900"/>
                  </a:cubicBezTo>
                  <a:cubicBezTo>
                    <a:pt x="0" y="96662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51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43000" y="2381250"/>
            <a:ext cx="12382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  JOIN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14625" y="2352675"/>
            <a:ext cx="65722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17212B"/>
                </a:solidFill>
                <a:latin typeface="DM Sans Bold"/>
                <a:ea typeface="DM Sans Bold"/>
                <a:cs typeface="DM Sans Bold"/>
                <a:sym typeface="DM Sans Bold"/>
              </a:rPr>
              <a:t>Display applicants with their applied job titles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2838450"/>
            <a:ext cx="8953500" cy="1190625"/>
            <a:chOff x="0" y="0"/>
            <a:chExt cx="11938000" cy="158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38000" cy="1587500"/>
            </a:xfrm>
            <a:custGeom>
              <a:avLst/>
              <a:gdLst/>
              <a:ahLst/>
              <a:cxnLst/>
              <a:rect l="l" t="t" r="r" b="b"/>
              <a:pathLst>
                <a:path w="11938000" h="1587500">
                  <a:moveTo>
                    <a:pt x="101600" y="0"/>
                  </a:moveTo>
                  <a:lnTo>
                    <a:pt x="11836400" y="0"/>
                  </a:lnTo>
                  <a:cubicBezTo>
                    <a:pt x="11892512" y="0"/>
                    <a:pt x="11938000" y="45488"/>
                    <a:pt x="11938000" y="101600"/>
                  </a:cubicBezTo>
                  <a:lnTo>
                    <a:pt x="11938000" y="1485900"/>
                  </a:lnTo>
                  <a:cubicBezTo>
                    <a:pt x="11938000" y="1542012"/>
                    <a:pt x="11892512" y="1587500"/>
                    <a:pt x="11836400" y="1587500"/>
                  </a:cubicBezTo>
                  <a:lnTo>
                    <a:pt x="101600" y="1587500"/>
                  </a:lnTo>
                  <a:cubicBezTo>
                    <a:pt x="45488" y="1587500"/>
                    <a:pt x="0" y="1542012"/>
                    <a:pt x="0" y="14859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938000" cy="162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81125" y="2819400"/>
            <a:ext cx="84772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a.applicant_name, j.title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APPLICANT a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JOIN APPLICATION ap ON a.applicant_id = ap.applicant_id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JOIN JOB j ON ap.job_id = j.job_id;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7250" y="4524375"/>
            <a:ext cx="16573500" cy="2095500"/>
            <a:chOff x="0" y="0"/>
            <a:chExt cx="22098000" cy="279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098000" cy="2794000"/>
            </a:xfrm>
            <a:custGeom>
              <a:avLst/>
              <a:gdLst/>
              <a:ahLst/>
              <a:cxnLst/>
              <a:rect l="l" t="t" r="r" b="b"/>
              <a:pathLst>
                <a:path w="22098000" h="2794000">
                  <a:moveTo>
                    <a:pt x="127000" y="0"/>
                  </a:moveTo>
                  <a:lnTo>
                    <a:pt x="21971000" y="0"/>
                  </a:lnTo>
                  <a:cubicBezTo>
                    <a:pt x="22041140" y="0"/>
                    <a:pt x="22098000" y="56860"/>
                    <a:pt x="22098000" y="127000"/>
                  </a:cubicBezTo>
                  <a:lnTo>
                    <a:pt x="22098000" y="2667000"/>
                  </a:lnTo>
                  <a:cubicBezTo>
                    <a:pt x="22098000" y="2737140"/>
                    <a:pt x="22041140" y="2794000"/>
                    <a:pt x="21971000" y="2794000"/>
                  </a:cubicBezTo>
                  <a:lnTo>
                    <a:pt x="127000" y="2794000"/>
                  </a:lnTo>
                  <a:cubicBezTo>
                    <a:pt x="56860" y="2794000"/>
                    <a:pt x="0" y="2737140"/>
                    <a:pt x="0" y="2667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D78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098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4752975"/>
            <a:ext cx="1238250" cy="323850"/>
            <a:chOff x="0" y="0"/>
            <a:chExt cx="1651000" cy="431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1000" cy="431800"/>
            </a:xfrm>
            <a:custGeom>
              <a:avLst/>
              <a:gdLst/>
              <a:ahLst/>
              <a:cxnLst/>
              <a:rect l="l" t="t" r="r" b="b"/>
              <a:pathLst>
                <a:path w="1651000" h="431800">
                  <a:moveTo>
                    <a:pt x="215900" y="0"/>
                  </a:moveTo>
                  <a:lnTo>
                    <a:pt x="1435100" y="0"/>
                  </a:lnTo>
                  <a:cubicBezTo>
                    <a:pt x="1554338" y="0"/>
                    <a:pt x="1651000" y="96662"/>
                    <a:pt x="1651000" y="215900"/>
                  </a:cubicBezTo>
                  <a:cubicBezTo>
                    <a:pt x="1651000" y="335138"/>
                    <a:pt x="1554338" y="431800"/>
                    <a:pt x="1435100" y="431800"/>
                  </a:cubicBezTo>
                  <a:lnTo>
                    <a:pt x="215900" y="431800"/>
                  </a:lnTo>
                  <a:cubicBezTo>
                    <a:pt x="96662" y="431800"/>
                    <a:pt x="0" y="335138"/>
                    <a:pt x="0" y="215900"/>
                  </a:cubicBezTo>
                  <a:cubicBezTo>
                    <a:pt x="0" y="96662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2E7D7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51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3000" y="4810125"/>
            <a:ext cx="12382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  GROUP BY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14625" y="4781550"/>
            <a:ext cx="65722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17212B"/>
                </a:solidFill>
                <a:latin typeface="DM Sans Bold"/>
                <a:ea typeface="DM Sans Bold"/>
                <a:cs typeface="DM Sans Bold"/>
                <a:sym typeface="DM Sans Bold"/>
              </a:rPr>
              <a:t>Count applications by application_status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43000" y="5267325"/>
            <a:ext cx="8953500" cy="1190625"/>
            <a:chOff x="0" y="0"/>
            <a:chExt cx="11938000" cy="1587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38000" cy="1587500"/>
            </a:xfrm>
            <a:custGeom>
              <a:avLst/>
              <a:gdLst/>
              <a:ahLst/>
              <a:cxnLst/>
              <a:rect l="l" t="t" r="r" b="b"/>
              <a:pathLst>
                <a:path w="11938000" h="1587500">
                  <a:moveTo>
                    <a:pt x="101600" y="0"/>
                  </a:moveTo>
                  <a:lnTo>
                    <a:pt x="11836400" y="0"/>
                  </a:lnTo>
                  <a:cubicBezTo>
                    <a:pt x="11892512" y="0"/>
                    <a:pt x="11938000" y="45488"/>
                    <a:pt x="11938000" y="101600"/>
                  </a:cubicBezTo>
                  <a:lnTo>
                    <a:pt x="11938000" y="1485900"/>
                  </a:lnTo>
                  <a:cubicBezTo>
                    <a:pt x="11938000" y="1542012"/>
                    <a:pt x="11892512" y="1587500"/>
                    <a:pt x="11836400" y="1587500"/>
                  </a:cubicBezTo>
                  <a:lnTo>
                    <a:pt x="101600" y="1587500"/>
                  </a:lnTo>
                  <a:cubicBezTo>
                    <a:pt x="45488" y="1587500"/>
                    <a:pt x="0" y="1542012"/>
                    <a:pt x="0" y="14859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1938000" cy="162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81125" y="5400675"/>
            <a:ext cx="8477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application_status, COUNT(*) AS total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APPLICATION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BY application_status;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7250" y="6953250"/>
            <a:ext cx="16573500" cy="2095500"/>
            <a:chOff x="0" y="0"/>
            <a:chExt cx="22098000" cy="279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98000" cy="2794000"/>
            </a:xfrm>
            <a:custGeom>
              <a:avLst/>
              <a:gdLst/>
              <a:ahLst/>
              <a:cxnLst/>
              <a:rect l="l" t="t" r="r" b="b"/>
              <a:pathLst>
                <a:path w="22098000" h="2794000">
                  <a:moveTo>
                    <a:pt x="127000" y="0"/>
                  </a:moveTo>
                  <a:lnTo>
                    <a:pt x="21971000" y="0"/>
                  </a:lnTo>
                  <a:cubicBezTo>
                    <a:pt x="22041140" y="0"/>
                    <a:pt x="22098000" y="56860"/>
                    <a:pt x="22098000" y="127000"/>
                  </a:cubicBezTo>
                  <a:lnTo>
                    <a:pt x="22098000" y="2667000"/>
                  </a:lnTo>
                  <a:cubicBezTo>
                    <a:pt x="22098000" y="2737140"/>
                    <a:pt x="22041140" y="2794000"/>
                    <a:pt x="21971000" y="2794000"/>
                  </a:cubicBezTo>
                  <a:lnTo>
                    <a:pt x="127000" y="2794000"/>
                  </a:lnTo>
                  <a:cubicBezTo>
                    <a:pt x="56860" y="2794000"/>
                    <a:pt x="0" y="2737140"/>
                    <a:pt x="0" y="2667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D78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098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43000" y="7181850"/>
            <a:ext cx="1238250" cy="323850"/>
            <a:chOff x="0" y="0"/>
            <a:chExt cx="1651000" cy="431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51000" cy="431800"/>
            </a:xfrm>
            <a:custGeom>
              <a:avLst/>
              <a:gdLst/>
              <a:ahLst/>
              <a:cxnLst/>
              <a:rect l="l" t="t" r="r" b="b"/>
              <a:pathLst>
                <a:path w="1651000" h="431800">
                  <a:moveTo>
                    <a:pt x="215900" y="0"/>
                  </a:moveTo>
                  <a:lnTo>
                    <a:pt x="1435100" y="0"/>
                  </a:lnTo>
                  <a:cubicBezTo>
                    <a:pt x="1554338" y="0"/>
                    <a:pt x="1651000" y="96662"/>
                    <a:pt x="1651000" y="215900"/>
                  </a:cubicBezTo>
                  <a:cubicBezTo>
                    <a:pt x="1651000" y="335138"/>
                    <a:pt x="1554338" y="431800"/>
                    <a:pt x="1435100" y="431800"/>
                  </a:cubicBezTo>
                  <a:lnTo>
                    <a:pt x="215900" y="431800"/>
                  </a:lnTo>
                  <a:cubicBezTo>
                    <a:pt x="96662" y="431800"/>
                    <a:pt x="0" y="335138"/>
                    <a:pt x="0" y="215900"/>
                  </a:cubicBezTo>
                  <a:cubicBezTo>
                    <a:pt x="0" y="96662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2E7D78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651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3000" y="7239000"/>
            <a:ext cx="12382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  HAVING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14625" y="7210425"/>
            <a:ext cx="65722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17212B"/>
                </a:solidFill>
                <a:latin typeface="DM Sans Bold"/>
                <a:ea typeface="DM Sans Bold"/>
                <a:cs typeface="DM Sans Bold"/>
                <a:sym typeface="DM Sans Bold"/>
              </a:rPr>
              <a:t>Find jobs with more than one applicant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143000" y="7696200"/>
            <a:ext cx="8953500" cy="1190625"/>
            <a:chOff x="0" y="0"/>
            <a:chExt cx="11938000" cy="1587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938000" cy="1587500"/>
            </a:xfrm>
            <a:custGeom>
              <a:avLst/>
              <a:gdLst/>
              <a:ahLst/>
              <a:cxnLst/>
              <a:rect l="l" t="t" r="r" b="b"/>
              <a:pathLst>
                <a:path w="11938000" h="1587500">
                  <a:moveTo>
                    <a:pt x="101600" y="0"/>
                  </a:moveTo>
                  <a:lnTo>
                    <a:pt x="11836400" y="0"/>
                  </a:lnTo>
                  <a:cubicBezTo>
                    <a:pt x="11892512" y="0"/>
                    <a:pt x="11938000" y="45488"/>
                    <a:pt x="11938000" y="101600"/>
                  </a:cubicBezTo>
                  <a:lnTo>
                    <a:pt x="11938000" y="1485900"/>
                  </a:lnTo>
                  <a:cubicBezTo>
                    <a:pt x="11938000" y="1542012"/>
                    <a:pt x="11892512" y="1587500"/>
                    <a:pt x="11836400" y="1587500"/>
                  </a:cubicBezTo>
                  <a:lnTo>
                    <a:pt x="101600" y="1587500"/>
                  </a:lnTo>
                  <a:cubicBezTo>
                    <a:pt x="45488" y="1587500"/>
                    <a:pt x="0" y="1542012"/>
                    <a:pt x="0" y="14859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1938000" cy="162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81125" y="7829550"/>
            <a:ext cx="84772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j.title, COUNT(ap.applicant_id) AS total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JOB j JOIN APPLICATION ap ON j.job_id = ap.job_id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BY j.job_id, j.title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HAVING COUNT(ap.applicant_id) &gt; 1;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2789" y="8920583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5"/>
                </a:lnTo>
                <a:lnTo>
                  <a:pt x="0" y="2430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329709">
            <a:off x="5822328" y="-420503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5" y="0"/>
                </a:lnTo>
                <a:lnTo>
                  <a:pt x="964815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15797" y="-798152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4"/>
                </a:lnTo>
                <a:lnTo>
                  <a:pt x="0" y="2430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329709">
            <a:off x="10025191" y="1176397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329709">
            <a:off x="5822328" y="7844911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5" y="0"/>
                </a:lnTo>
                <a:lnTo>
                  <a:pt x="964815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29709">
            <a:off x="-482407" y="7844911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5"/>
                </a:lnTo>
                <a:lnTo>
                  <a:pt x="0" y="927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29709">
            <a:off x="-482407" y="1638623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329709">
            <a:off x="17605680" y="6317464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621795" y="-1401635"/>
            <a:ext cx="2887007" cy="2430335"/>
          </a:xfrm>
          <a:custGeom>
            <a:avLst/>
            <a:gdLst/>
            <a:ahLst/>
            <a:cxnLst/>
            <a:rect l="l" t="t" r="r" b="b"/>
            <a:pathLst>
              <a:path w="2887007" h="2430335">
                <a:moveTo>
                  <a:pt x="0" y="0"/>
                </a:moveTo>
                <a:lnTo>
                  <a:pt x="2887006" y="0"/>
                </a:lnTo>
                <a:lnTo>
                  <a:pt x="2887006" y="2430335"/>
                </a:lnTo>
                <a:lnTo>
                  <a:pt x="0" y="2430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1115798"/>
            <a:ext cx="5020056" cy="8229600"/>
          </a:xfrm>
          <a:custGeom>
            <a:avLst/>
            <a:gdLst/>
            <a:ahLst/>
            <a:cxnLst/>
            <a:rect l="l" t="t" r="r" b="b"/>
            <a:pathLst>
              <a:path w="5020056" h="8229600">
                <a:moveTo>
                  <a:pt x="0" y="0"/>
                </a:moveTo>
                <a:lnTo>
                  <a:pt x="5020056" y="0"/>
                </a:lnTo>
                <a:lnTo>
                  <a:pt x="50200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013973" y="2411198"/>
            <a:ext cx="12245327" cy="737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45"/>
              </a:lnSpc>
            </a:pPr>
            <a:r>
              <a:rPr lang="en-US" sz="34181">
                <a:solidFill>
                  <a:srgbClr val="FF9F10"/>
                </a:solidFill>
                <a:latin typeface="Jeepers"/>
                <a:ea typeface="Jeepers"/>
                <a:cs typeface="Jeepers"/>
                <a:sym typeface="Jeepers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 rot="-1329709">
            <a:off x="14298735" y="5705779"/>
            <a:ext cx="964814" cy="927976"/>
          </a:xfrm>
          <a:custGeom>
            <a:avLst/>
            <a:gdLst/>
            <a:ahLst/>
            <a:cxnLst/>
            <a:rect l="l" t="t" r="r" b="b"/>
            <a:pathLst>
              <a:path w="964814" h="927976">
                <a:moveTo>
                  <a:pt x="0" y="0"/>
                </a:moveTo>
                <a:lnTo>
                  <a:pt x="964814" y="0"/>
                </a:lnTo>
                <a:lnTo>
                  <a:pt x="964814" y="927976"/>
                </a:lnTo>
                <a:lnTo>
                  <a:pt x="0" y="927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 Tracking DBMS</dc:title>
  <cp:lastModifiedBy>Sruthi Sirigiri</cp:lastModifiedBy>
  <cp:revision>2</cp:revision>
  <dcterms:created xsi:type="dcterms:W3CDTF">2006-08-16T00:00:00Z</dcterms:created>
  <dcterms:modified xsi:type="dcterms:W3CDTF">2026-10-07T19:37:53Z</dcterms:modified>
  <dc:identifier>DAHVevZyg8A</dc:identifier>
</cp:coreProperties>
</file>